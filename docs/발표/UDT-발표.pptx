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047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BE-A 인사, 팀 소개. 오른쪽은 실제 거래 한 건의 모습이고, 배송 중에는 판매자 정산이 보류된다는 점이 이번 발표의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BE-A 30분 구성: 개요와 기능 15분, 시연 10분, 회고 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통계로 문제의 크기를 먼저 보여준다. 2021년 이후 피해액이 크게 늘었고 2024년에 3,340억 원. 핵심은 돈이 한 번 넘어가면 되돌리기 어렵다는 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30초 실제 PG 대신 가상 잔액으로 같은 흐름을 구현. 표가 이 서비스의 존재 이유: 구매자 돈은 결제 순간 빠지지만 판매자에게는 구매확정 때 처음 들어간다. 분쟁이면 보류 금액이 구매자에게 돌아감.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범위를 줄여도 구매→배송→확정 흐름과 관리자 검수는 끝까지 지켰다.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이름 칸은 발표 전에 채운다. 파일마다 담당자를 정하고, 다른 사람 파일은 담당자에게 요청하는 방식으로 충돌을 줄였다.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백엔드를 기다리지 않고 첫날부터 병렬 개발. API가 바뀌면 명세, 검증 스크립트, 목 응답, 팀 공지를 같이 바꿨다. 여기까지 개요 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 기능 이름만 짚고, 자세한 동작은 시연에서. (회색 칸에 실제 화면 캡처를 넣는다)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 수업에서 배운 스택 그대로. 사용자 쪽은 프론트(5173)와 백엔드(8080) 포트가 달라 쿠키보다 JWT가 편했고, 관리자 화면은 폼 위주라 세션 로그인을 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Controller–Service–Repository 계층. Service에는 ResponseEntity 같은 웹 클래스를 쓰지 않아서 REST와 Thymeleaf 컨트롤러가 같은 Service를 쓸 수 있다. "MVC인데 View는 어디 있냐"는 질문의 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엔티티 8개, 핵심은 상품·거래·분쟁. @ManyToOne 기본값이 EAGER라 LAZY를 직접 지정. 양방향은 상품 이미지와 분쟁 증빙 두 곳만. UNIQUE 4, INDEX 3, FK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 허위 매물을 막는 첫 단계. 승인 전에는 목록에 노출되지 않는다. 등록 후 "관리자 검수 후 판매중으로 전환됩니다" 안내를 띄운다.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주황색(결제완료·배송중)이 돈이 묶인 구간. 분쟁은 이 두 상태에서만 신고 가능. 가상 결제라 결제대기 상태는 두지 않았고, 거래 취소는 범위에서 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30초 예외를 RuntimeException 계열로 던져야 기본 롤백이 된다. 잔액 부족이면 상품은 판매중 그대로이고 거래도 안 생기는 걸 테스트로 확인. 성공·실패 모두 같은 응답 형식이고 실패는 항상 4xx/5xx. PUT은 쓰지 않았다(전부 부분 변경). 응답은 DTO만, 빈 목록은 [].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 분쟁은 결제완료·배송중 상태에서만 신고 가능. 분쟁 생성과 상태 변경이 같은 트랜잭션 안에서 처리된다.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로그인 실패를 404로 주면 가입된 이메일을 알아낼 수 있어서 401로 통일. 사용자 ID는 요청 값이 아니라 토큰에서만 꺼낸다(위조 방지). 관리자 메서드에 @PreAuthorize.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공통 레이아웃과 fragment로 화면을 나눴다. 템플릿에는 DTO만 넘긴다. 관리자 전용 Service를 따로 만들지 않고 기존 Service를 호출. 로그인 안 한 상태로 접근하면 로그인 화면으로 이동.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여러 화면이 실제로 같이 쓰는 값만 전역으로 올렸다. props를 받는 컴포넌트에는 propTypes를 달았다. StatusBadge 하나로 상품 상태와 거래 상태를 모두 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로그인 API까지 401 처리를 하면 로그인 실패가 무한 리다이렉트가 돼서 제외. 백엔드 응답 형식이 통일돼 있어서 인터셉터 하나로 처리할 수 있었다.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상품 등록 후 "관리자 검수 후 판매중으로 전환됩니다" 안내를 띄운다(없으면 목록에 안 보이는 걸 오류로 오해). 증빙 다운로드는 사용자는 JWT 헤더를 붙인 요청, 관리자는 세션 링크로 두 경로. (반응형 캡처는 FE-C가 설명해도 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가장 위험한 부분이라 팀장 리뷰를 필수로 걸었다. 상품당 진행 중 거래 1건은 DB 유니크가 아니라 이 상태 변경으로 보장(환불 후 재구매가 가능해야 해서).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개선 전후 쿼리 로그는 같은 조건(size=12)으로 캡처해서 Entity 설계서에 넣었다. open-in-view도 false로 설정.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첫 줄만 자세히: 필터 체인 순서 하나 때문에 프론트 전체가 멈췄던 경험. 나머지는 한 줄씩.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 기능이 됐는지는 말이 아니라 검증 스크립트 결과로 확인했다. 여기까지 15분.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BE-B 2·6 · FE-C 4·5·7 녹화 영상 먼저, 필요하면 라이브. 시연 전 체크: 초기 데이터 재실행, 로그인 정리, 테스트 입력 지우기, 창 크기 고정. 남는 시간: 잔액 부족 에러, 반려 사유 빈칸 오류, 모바일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20초 시연 전에 무엇을 보면 되는지 먼저 안내하고 영상으로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1분 시연 직후 정리. 부족한 점을 먼저 말해 두면 Q&amp;A에서 방어하기 쉽다.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BE-A 본인이 40~45초. 세 키워드 중 두세 개로 느낀 점, 어려웠던 점과 극복, 배운 것, 협업 경험을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BE-B 본인이 40~45초. 세 키워드 중 두세 개로 느낀 점, 어려웠던 점과 극복, 배운 것, 협업 경험을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BE-C 본인이 40~45초. 세 키워드 중 두세 개로 느낀 점, 어려웠던 점과 극복, 배운 것, 협업 경험을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BE-D 본인이 40~45초. 세 키워드 중 두세 개로 느낀 점, 어려웠던 점과 극복, 배운 것, 협업 경험을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FE-A 본인이 40~45초. 세 키워드 중 두세 개로 느낀 점, 어려웠던 점과 극복, 배운 것, 협업 경험을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FE-B 본인이 40~45초. 세 키워드 중 두세 개로 느낀 점, 어려웠던 점과 극복, 배운 것, 협업 경험을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FE-C 본인이 40~45초. 세 키워드 중 두세 개로 느낀 점, 어려웠던 점과 극복, 배운 것, 협업 경험을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 대비 자료: docs/참고/예상질문.md, SPEC 의사결정 기록.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8500" y="711200"/>
            <a:ext cx="351421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 Shielders Rookies 6기 웹 팀 프로젝트</a:t>
            </a:r>
            <a:endParaRPr lang="en-US" sz="1300" dirty="0"/>
          </a:p>
        </p:txBody>
      </p:sp>
      <p:pic>
        <p:nvPicPr>
          <p:cNvPr id="3" name="Image 0" descr="/tmp/claude-0/-home-claude/5e2033b7-23f8-5e38-a464-76ca5369ce45/scratchpad/pptx/sho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2554684"/>
            <a:ext cx="1637506" cy="9525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98500" y="3697684"/>
            <a:ext cx="403661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kern="0" spc="-42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 전자기기 안전거래 플랫폼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98500" y="5706269"/>
            <a:ext cx="410851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dirty="0" err="1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</a:t>
            </a: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윤동호</a:t>
            </a: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</a:t>
            </a:r>
            <a:r>
              <a:rPr lang="en-US" sz="1300" dirty="0" err="1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세진</a:t>
            </a: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ko-KR" alt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원종현</a:t>
            </a: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 err="1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박한나</a:t>
            </a: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 err="1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채수림</a:t>
            </a: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300" dirty="0" err="1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정성재</a:t>
            </a:r>
            <a:r>
              <a:rPr lang="ko-KR" alt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이승혁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5986859"/>
            <a:ext cx="14287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발표일</a:t>
            </a: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2026. 10.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solidFill>
            <a:srgbClr val="1325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445500" y="1885950"/>
            <a:ext cx="2921000" cy="308610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8674100" y="2114550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/tmp/claude-0/-home-claude/5e2033b7-23f8-5e38-a464-76ca5369ce45/scratchpad/pptx/sho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6500" y="2266950"/>
            <a:ext cx="304800" cy="304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9410700" y="2187575"/>
            <a:ext cx="154108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맥북 프로 14 (A급)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410700" y="2441575"/>
            <a:ext cx="92213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850,000원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674100" y="2882900"/>
            <a:ext cx="24638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8978900" y="3060700"/>
            <a:ext cx="1289717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검수 완료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674100" y="3041650"/>
            <a:ext cx="203200" cy="203200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/tmp/claude-0/-home-claude/5e2033b7-23f8-5e38-a464-76ca5369ce45/scratchpad/pptx/sho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550" y="3086100"/>
            <a:ext cx="114300" cy="1143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78900" y="3378200"/>
            <a:ext cx="75356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완료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674100" y="3359150"/>
            <a:ext cx="203200" cy="203200"/>
          </a:xfrm>
          <a:prstGeom prst="ellipse">
            <a:avLst/>
          </a:prstGeom>
          <a:solidFill>
            <a:srgbClr val="2F6B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/tmp/claude-0/-home-claude/5e2033b7-23f8-5e38-a464-76ca5369ce45/scratchpad/pptx/shot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8550" y="3403600"/>
            <a:ext cx="114300" cy="1143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78900" y="3695700"/>
            <a:ext cx="5588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배송중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8674100" y="3676650"/>
            <a:ext cx="203200" cy="203200"/>
          </a:xfrm>
          <a:prstGeom prst="ellipse">
            <a:avLst/>
          </a:prstGeom>
          <a:ln w="190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6"/>
          <p:cNvSpPr txBox="1"/>
          <p:nvPr/>
        </p:nvSpPr>
        <p:spPr>
          <a:xfrm>
            <a:off x="8978900" y="4013200"/>
            <a:ext cx="7112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구매확정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674100" y="3994150"/>
            <a:ext cx="203200" cy="203200"/>
          </a:xfrm>
          <a:prstGeom prst="ellipse">
            <a:avLst/>
          </a:prstGeom>
          <a:ln w="190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8674100" y="4349750"/>
            <a:ext cx="2463800" cy="393700"/>
          </a:xfrm>
          <a:prstGeom prst="roundRect">
            <a:avLst>
              <a:gd name="adj" fmla="val 22581"/>
            </a:avLst>
          </a:prstGeom>
          <a:solidFill>
            <a:srgbClr val="FFF4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9"/>
          <p:cNvSpPr txBox="1"/>
          <p:nvPr/>
        </p:nvSpPr>
        <p:spPr>
          <a:xfrm>
            <a:off x="8801100" y="4464050"/>
            <a:ext cx="8389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 정산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10552906" y="4464050"/>
            <a:ext cx="5595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 중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72072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3451225"/>
            <a:ext cx="5143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698500" y="2711450"/>
            <a:ext cx="3841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282700" y="2724150"/>
            <a:ext cx="160742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82700" y="3073400"/>
            <a:ext cx="3082052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배경, 목표, 개발 범위, 팀 구성, 일정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0000" y="3451225"/>
            <a:ext cx="5143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350000" y="2711450"/>
            <a:ext cx="3841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934200" y="2724150"/>
            <a:ext cx="558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934200" y="3073400"/>
            <a:ext cx="206725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시나리오, 결과와 한계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8500" y="4391025"/>
            <a:ext cx="5143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98500" y="3651250"/>
            <a:ext cx="3841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282700" y="3663950"/>
            <a:ext cx="20056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및 구현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282700" y="4013200"/>
            <a:ext cx="3518217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스택, 아키텍처, ERD, 백엔드, 프론트엔드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0000" y="4391025"/>
            <a:ext cx="5143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6350000" y="3651250"/>
            <a:ext cx="3841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934200" y="3663950"/>
            <a:ext cx="558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회고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934200" y="4013200"/>
            <a:ext cx="1678543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팀원별 소감과 배운 점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98500" y="5330825"/>
            <a:ext cx="5143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98500" y="4591050"/>
            <a:ext cx="38417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282700" y="4603750"/>
            <a:ext cx="1351391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트러블 슈팅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1282700" y="4953000"/>
            <a:ext cx="235673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 구매, N+1 문제, 통합 이슈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11422856" y="6483350"/>
            <a:ext cx="17224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147685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 배경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2057400"/>
            <a:ext cx="230151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2024년 직거래사기 (경찰청)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2444750"/>
            <a:ext cx="2454085" cy="565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0" spc="-114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3,340억 원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3245247" y="2686050"/>
            <a:ext cx="122326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7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10만 539건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98500" y="3194050"/>
            <a:ext cx="2798572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전년 대비 피해액 </a:t>
            </a:r>
            <a:r>
              <a:rPr lang="en-US" sz="120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+143%</a:t>
            </a: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건수 </a:t>
            </a: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+28%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8500" y="5086350"/>
            <a:ext cx="5556647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997347" y="4565650"/>
            <a:ext cx="31353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834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98500" y="4762500"/>
            <a:ext cx="809724" cy="317500"/>
          </a:xfrm>
          <a:prstGeom prst="rect">
            <a:avLst/>
          </a:prstGeom>
          <a:solidFill>
            <a:srgbClr val="C9C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962025" y="5162550"/>
            <a:ext cx="38417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946771" y="4540250"/>
            <a:ext cx="313531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898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647924" y="4737100"/>
            <a:ext cx="809724" cy="342900"/>
          </a:xfrm>
          <a:prstGeom prst="rect">
            <a:avLst/>
          </a:prstGeom>
          <a:solidFill>
            <a:srgbClr val="C9C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911449" y="5162550"/>
            <a:ext cx="38417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843213" y="3905250"/>
            <a:ext cx="41949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2,574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597348" y="4102100"/>
            <a:ext cx="809724" cy="977900"/>
          </a:xfrm>
          <a:prstGeom prst="rect">
            <a:avLst/>
          </a:prstGeom>
          <a:solidFill>
            <a:srgbClr val="C9C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2860873" y="5162550"/>
            <a:ext cx="38417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792637" y="4451350"/>
            <a:ext cx="41949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1,131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546773" y="4648200"/>
            <a:ext cx="809724" cy="431800"/>
          </a:xfrm>
          <a:prstGeom prst="rect">
            <a:avLst/>
          </a:prstGeom>
          <a:solidFill>
            <a:srgbClr val="C9C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3810298" y="5162550"/>
            <a:ext cx="38417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742061" y="4362450"/>
            <a:ext cx="41949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1,373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496197" y="4559300"/>
            <a:ext cx="809724" cy="520700"/>
          </a:xfrm>
          <a:prstGeom prst="rect">
            <a:avLst/>
          </a:prstGeom>
          <a:solidFill>
            <a:srgbClr val="C9C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4759722" y="5162550"/>
            <a:ext cx="38417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691485" y="3613150"/>
            <a:ext cx="41949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3,340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45621" y="3810000"/>
            <a:ext cx="809724" cy="127000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5709146" y="5162550"/>
            <a:ext cx="384175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98500" y="5492750"/>
            <a:ext cx="55947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5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피해액(억 원) · 출처: 경찰청 직거래사기 발생 현황(2019~2024), 파이낸셜뉴스 2024.8.16 · 2025.8.25 보도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6661547" y="2490788"/>
            <a:ext cx="3866372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700" b="1" kern="0" spc="-34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돈이 한 번 넘어가면 되돌리기 어려움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6686947" y="2928938"/>
            <a:ext cx="30953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4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돈을 보냈는데 물건이 오지 않음</a:t>
            </a:r>
            <a:endParaRPr lang="en-US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6686947" y="3319463"/>
            <a:ext cx="241930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4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받은 물건이 사진과 다름</a:t>
            </a:r>
            <a:endParaRPr lang="en-US" sz="1450" dirty="0"/>
          </a:p>
        </p:txBody>
      </p:sp>
      <p:sp>
        <p:nvSpPr>
          <p:cNvPr id="32" name="Text 29"/>
          <p:cNvSpPr txBox="1"/>
          <p:nvPr/>
        </p:nvSpPr>
        <p:spPr>
          <a:xfrm>
            <a:off x="6686947" y="3709988"/>
            <a:ext cx="484465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4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중고거래 사기는 전기통신금융사기가 아니라 제때 지급정지가 어려움</a:t>
            </a:r>
            <a:endParaRPr lang="en-US" sz="1450" dirty="0"/>
          </a:p>
        </p:txBody>
      </p:sp>
      <p:sp>
        <p:nvSpPr>
          <p:cNvPr id="33" name="Text 30"/>
          <p:cNvSpPr txBox="1"/>
          <p:nvPr/>
        </p:nvSpPr>
        <p:spPr>
          <a:xfrm>
            <a:off x="6686947" y="4376738"/>
            <a:ext cx="41839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4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4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분쟁이 생겨도 판단할 증빙과 중재자가 없음</a:t>
            </a:r>
            <a:endParaRPr lang="en-US" sz="1450" dirty="0"/>
          </a:p>
        </p:txBody>
      </p:sp>
      <p:sp>
        <p:nvSpPr>
          <p:cNvPr id="34" name="Shape 31"/>
          <p:cNvSpPr/>
          <p:nvPr/>
        </p:nvSpPr>
        <p:spPr>
          <a:xfrm>
            <a:off x="6661547" y="4811713"/>
            <a:ext cx="4831953" cy="571500"/>
          </a:xfrm>
          <a:prstGeom prst="roundRect">
            <a:avLst>
              <a:gd name="adj" fmla="val 15556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6864747" y="4995863"/>
            <a:ext cx="411562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확인하기 전에는 돈을 넘기지 않는 구조가 필요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1422856" y="6483350"/>
            <a:ext cx="17224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17027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목표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2388592"/>
            <a:ext cx="6413024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상태 자체를 안전장치로 만드는 것</a:t>
            </a:r>
            <a:r>
              <a:rPr lang="en-US" sz="15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목표로 4단계 흐름을 설계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98500" y="2877542"/>
            <a:ext cx="2432050" cy="1511300"/>
          </a:xfrm>
          <a:prstGeom prst="roundRect">
            <a:avLst>
              <a:gd name="adj" fmla="val 5882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889000" y="3068042"/>
            <a:ext cx="279400" cy="279400"/>
          </a:xfrm>
          <a:prstGeom prst="ellipse">
            <a:avLst/>
          </a:prstGeom>
          <a:solidFill>
            <a:srgbClr val="1325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989806" y="3125192"/>
            <a:ext cx="17938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89000" y="3442692"/>
            <a:ext cx="105102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검수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89000" y="3766542"/>
            <a:ext cx="208915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등록된 상품은 승인 후에만 목록에 노출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270250" y="3499842"/>
            <a:ext cx="177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486150" y="2877542"/>
            <a:ext cx="2432050" cy="1511300"/>
          </a:xfrm>
          <a:prstGeom prst="roundRect">
            <a:avLst>
              <a:gd name="adj" fmla="val 5882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676650" y="3068042"/>
            <a:ext cx="279400" cy="279400"/>
          </a:xfrm>
          <a:prstGeom prst="ellipse">
            <a:avLst/>
          </a:prstGeom>
          <a:solidFill>
            <a:srgbClr val="1325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3777456" y="3125192"/>
            <a:ext cx="17938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3676650" y="3442692"/>
            <a:ext cx="125015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에스크로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76650" y="3766542"/>
            <a:ext cx="208915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시 구매자 잔액에서 바로 차감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57900" y="3499842"/>
            <a:ext cx="177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6273800" y="2877542"/>
            <a:ext cx="2432050" cy="1511300"/>
          </a:xfrm>
          <a:prstGeom prst="roundRect">
            <a:avLst>
              <a:gd name="adj" fmla="val 5882"/>
            </a:avLst>
          </a:prstGeom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6464300" y="3068042"/>
            <a:ext cx="279400" cy="2794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565106" y="3125192"/>
            <a:ext cx="17938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64300" y="3442692"/>
            <a:ext cx="8622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 보류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464300" y="3766542"/>
            <a:ext cx="208915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구매자가 확정하기 전까지 판매자에게 지급 안 함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845550" y="3499842"/>
            <a:ext cx="177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9061450" y="2877542"/>
            <a:ext cx="2432050" cy="1511300"/>
          </a:xfrm>
          <a:prstGeom prst="roundRect">
            <a:avLst>
              <a:gd name="adj" fmla="val 5882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9251950" y="3068042"/>
            <a:ext cx="279400" cy="279400"/>
          </a:xfrm>
          <a:prstGeom prst="ellipse">
            <a:avLst/>
          </a:prstGeom>
          <a:solidFill>
            <a:srgbClr val="1325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9352756" y="3125192"/>
            <a:ext cx="17938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251950" y="3442692"/>
            <a:ext cx="8622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처리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9251950" y="3766542"/>
            <a:ext cx="208915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증빙을 보고 관리자가 환불 또는 확정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98500" y="4623792"/>
            <a:ext cx="2424906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98500" y="4630142"/>
            <a:ext cx="2424906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838200" y="4744442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3123406" y="4623792"/>
            <a:ext cx="2319536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3123406" y="4630142"/>
            <a:ext cx="2319536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3263106" y="4744442"/>
            <a:ext cx="726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요청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442942" y="4623792"/>
            <a:ext cx="3730823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5442942" y="4630142"/>
            <a:ext cx="3730823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5582642" y="4744442"/>
            <a:ext cx="117236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· 확인 기간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9173766" y="4623792"/>
            <a:ext cx="2319734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9173766" y="4630142"/>
            <a:ext cx="2319734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9313466" y="4744442"/>
            <a:ext cx="685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구매확정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98500" y="5498108"/>
            <a:ext cx="2424906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838200" y="5163542"/>
            <a:ext cx="145951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850,000원 노트북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3123406" y="5498108"/>
            <a:ext cx="2319536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3263106" y="5163542"/>
            <a:ext cx="13825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 −850,000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5442942" y="5498108"/>
            <a:ext cx="3730823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5582642" y="5163542"/>
            <a:ext cx="241408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보류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(어느 쪽에도 지급 안 됨)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9173766" y="5498108"/>
            <a:ext cx="231973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9313466" y="5163542"/>
            <a:ext cx="13825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A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 +850,000</a:t>
            </a:r>
            <a:endParaRPr lang="en-US" sz="1300" dirty="0"/>
          </a:p>
        </p:txBody>
      </p:sp>
      <p:sp>
        <p:nvSpPr>
          <p:cNvPr id="49" name="Text 46"/>
          <p:cNvSpPr txBox="1"/>
          <p:nvPr/>
        </p:nvSpPr>
        <p:spPr>
          <a:xfrm>
            <a:off x="11422856" y="6483350"/>
            <a:ext cx="17224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147685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범위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271911"/>
            <a:ext cx="1270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98500" y="2278261"/>
            <a:ext cx="1270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38200" y="2392561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구분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968500" y="2271911"/>
            <a:ext cx="5461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968500" y="2278261"/>
            <a:ext cx="5461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108200" y="2392561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29500" y="2271911"/>
            <a:ext cx="4064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429500" y="2278261"/>
            <a:ext cx="4064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569200" y="2392561"/>
            <a:ext cx="82371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제외 (이유)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8500" y="3146227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38200" y="2811661"/>
            <a:ext cx="431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968500" y="3146227"/>
            <a:ext cx="5461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108200" y="2811661"/>
            <a:ext cx="382136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회원가입, 로그인(JWT), 마이페이지, 가상 잔액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429500" y="3146227"/>
            <a:ext cx="406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569200" y="2811661"/>
            <a:ext cx="255776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소셜 로그인 (자체 JWT로 충분)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98500" y="3620492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38200" y="3285927"/>
            <a:ext cx="431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968500" y="3620492"/>
            <a:ext cx="5461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2108200" y="3285927"/>
            <a:ext cx="38832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등록(사진 최대 5장), 검색, 카테고리, 페이징, 찜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429500" y="3620492"/>
            <a:ext cx="406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569200" y="3285927"/>
            <a:ext cx="330796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채팅 (2주 일정에 비해 비용이 큼)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8500" y="4094758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838200" y="3760192"/>
            <a:ext cx="431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968500" y="4094758"/>
            <a:ext cx="5461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2108200" y="3760192"/>
            <a:ext cx="241408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승인 / 반려(사유 필수)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429500" y="4094758"/>
            <a:ext cx="406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7569200" y="3760192"/>
            <a:ext cx="307171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권한 세분화 (역할 2개로 고정)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98500" y="4569023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838200" y="4234458"/>
            <a:ext cx="431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968500" y="4569023"/>
            <a:ext cx="5461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2108200" y="4234458"/>
            <a:ext cx="299981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요청, 송장 입력, 구매확정, 정산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7429500" y="4569023"/>
            <a:ext cx="406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7569200" y="4234458"/>
            <a:ext cx="28661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PG 결제 (가상 잔액으로 대체)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98500" y="5043289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838200" y="4708723"/>
            <a:ext cx="431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968500" y="5043289"/>
            <a:ext cx="5461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2108200" y="4708723"/>
            <a:ext cx="323607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증빙 첨부 신고, 관리자 강제 환불 / 확정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7429500" y="5043289"/>
            <a:ext cx="406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7569200" y="4708723"/>
            <a:ext cx="313316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알림 · 이메일, 배포 (기능 완성도 우선)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698500" y="5322689"/>
            <a:ext cx="6970093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API를 쓰지 않아 키 발급이나 요금제 문제로 일정이 밀릴 일이 없었음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11422856" y="6483350"/>
            <a:ext cx="17224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35007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구성 및 역할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064345"/>
            <a:ext cx="762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98500" y="2070695"/>
            <a:ext cx="762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82650" y="218499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460500" y="2064345"/>
            <a:ext cx="1524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460500" y="2070695"/>
            <a:ext cx="1524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600200" y="218499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이름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84500" y="2064345"/>
            <a:ext cx="8509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984500" y="2070695"/>
            <a:ext cx="8509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124200" y="218499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8500" y="2938661"/>
            <a:ext cx="762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914003" y="2604095"/>
            <a:ext cx="33099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460500" y="2938661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600200" y="2604095"/>
            <a:ext cx="91787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윤동호</a:t>
            </a: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984500" y="2938661"/>
            <a:ext cx="850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3124200" y="2604095"/>
            <a:ext cx="577372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환경 구성, 도메인 엔티티, 마이페이지 API, 파일 업로드, 분쟁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98500" y="3412927"/>
            <a:ext cx="762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914003" y="3078361"/>
            <a:ext cx="33099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460500" y="3412927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1600200" y="3078361"/>
            <a:ext cx="4318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</a:t>
            </a:r>
            <a:r>
              <a:rPr lang="en-US" sz="1300" b="1" dirty="0" err="1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세진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984500" y="3412927"/>
            <a:ext cx="850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3124200" y="3078361"/>
            <a:ext cx="439077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인증, Spring Security, 관리자 페이지(Thymeleaf)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8500" y="3887192"/>
            <a:ext cx="762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914003" y="3552627"/>
            <a:ext cx="33099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460500" y="3887192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600200" y="3552627"/>
            <a:ext cx="5418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원종현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2984500" y="3887192"/>
            <a:ext cx="850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3124200" y="3552627"/>
            <a:ext cx="420697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목록 · 상세 · 등록, 검색 · 페이징, 찜, N+1 개선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98500" y="4361458"/>
            <a:ext cx="762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914003" y="4026892"/>
            <a:ext cx="33099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1460500" y="4361458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1600200" y="4026892"/>
            <a:ext cx="5418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300" b="1" dirty="0" err="1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박한나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2984500" y="4361458"/>
            <a:ext cx="850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3124200" y="4026892"/>
            <a:ext cx="40885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상태 처리(구매 · 배송 · 확정), 공통 예외 처리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98500" y="4835723"/>
            <a:ext cx="762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923131" y="4501158"/>
            <a:ext cx="3126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460500" y="4835723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1600200" y="4501158"/>
            <a:ext cx="5418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300" b="1" dirty="0" err="1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채수림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2984500" y="4835723"/>
            <a:ext cx="850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3124200" y="4501158"/>
            <a:ext cx="420185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구조, 로그인 · 회원가입, API 연동, 반응형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698500" y="5309989"/>
            <a:ext cx="762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923131" y="4975423"/>
            <a:ext cx="3126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1460500" y="5309989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1600200" y="4975423"/>
            <a:ext cx="5418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300" b="1" dirty="0" err="1">
                <a:solidFill>
                  <a:srgbClr val="191F28"/>
                </a:solidFill>
                <a:latin typeface="Noto Sans KR" pitchFamily="34" charset="0"/>
              </a:rPr>
              <a:t>정성재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2984500" y="5309989"/>
            <a:ext cx="850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3124200" y="4975423"/>
            <a:ext cx="22806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목록 · 상세 · 등록 화면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698500" y="5784255"/>
            <a:ext cx="762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923131" y="5449689"/>
            <a:ext cx="3126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1460500" y="5784255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 txBox="1"/>
          <p:nvPr/>
        </p:nvSpPr>
        <p:spPr>
          <a:xfrm>
            <a:off x="1600200" y="5449689"/>
            <a:ext cx="54183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ko-KR" alt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이승혁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2984500" y="5784255"/>
            <a:ext cx="850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3124200" y="5449689"/>
            <a:ext cx="313339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마이페이지, 거래 상세, 분쟁 신고 화면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11422856" y="6483350"/>
            <a:ext cx="17224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348010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일정 및 협업 방식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198787"/>
            <a:ext cx="1524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98500" y="2205137"/>
            <a:ext cx="1524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38200" y="2319437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2225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2225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541885" y="2319437"/>
            <a:ext cx="28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D1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496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31496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3468985" y="2319437"/>
            <a:ext cx="28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D2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0767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0767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4396085" y="2319437"/>
            <a:ext cx="28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D3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038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0038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323185" y="2319437"/>
            <a:ext cx="28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D4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309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8"/>
          <p:cNvSpPr/>
          <p:nvPr/>
        </p:nvSpPr>
        <p:spPr>
          <a:xfrm>
            <a:off x="59309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250285" y="2319437"/>
            <a:ext cx="28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D5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8580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8580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177385" y="2319437"/>
            <a:ext cx="28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D6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77851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77851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104485" y="2319437"/>
            <a:ext cx="28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D7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7122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87122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9031585" y="2319437"/>
            <a:ext cx="28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D8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96393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96393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9958685" y="2319437"/>
            <a:ext cx="28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D9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0566400" y="2198787"/>
            <a:ext cx="9271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10566400" y="2205137"/>
            <a:ext cx="9271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10845105" y="2319437"/>
            <a:ext cx="36959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D10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98500" y="3036292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838200" y="2738537"/>
            <a:ext cx="106924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· API 명세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2222500" y="2605187"/>
            <a:ext cx="927100" cy="434280"/>
          </a:xfrm>
          <a:prstGeom prst="rect">
            <a:avLst/>
          </a:prstGeom>
          <a:solidFill>
            <a:srgbClr val="1325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2222500" y="3036292"/>
            <a:ext cx="9271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3149600" y="3036292"/>
            <a:ext cx="83439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0"/>
          <p:cNvSpPr/>
          <p:nvPr/>
        </p:nvSpPr>
        <p:spPr>
          <a:xfrm>
            <a:off x="698500" y="3473748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838200" y="3175992"/>
            <a:ext cx="6992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개발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2222500" y="3473748"/>
            <a:ext cx="9271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3149600" y="3039467"/>
            <a:ext cx="5562600" cy="437455"/>
          </a:xfrm>
          <a:prstGeom prst="rect">
            <a:avLst/>
          </a:prstGeom>
          <a:solidFill>
            <a:srgbClr val="2F6B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3149600" y="3473748"/>
            <a:ext cx="55626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8712200" y="3473748"/>
            <a:ext cx="2781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6"/>
          <p:cNvSpPr/>
          <p:nvPr/>
        </p:nvSpPr>
        <p:spPr>
          <a:xfrm>
            <a:off x="698500" y="3911203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838200" y="3613448"/>
            <a:ext cx="8389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테스트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2222500" y="3911203"/>
            <a:ext cx="2781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49"/>
          <p:cNvSpPr/>
          <p:nvPr/>
        </p:nvSpPr>
        <p:spPr>
          <a:xfrm>
            <a:off x="5003800" y="3476923"/>
            <a:ext cx="927100" cy="437455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0"/>
          <p:cNvSpPr/>
          <p:nvPr/>
        </p:nvSpPr>
        <p:spPr>
          <a:xfrm>
            <a:off x="5003800" y="3911203"/>
            <a:ext cx="9271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5930900" y="3911203"/>
            <a:ext cx="2781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2"/>
          <p:cNvSpPr/>
          <p:nvPr/>
        </p:nvSpPr>
        <p:spPr>
          <a:xfrm>
            <a:off x="8712200" y="3476923"/>
            <a:ext cx="927100" cy="437455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8712200" y="3911203"/>
            <a:ext cx="9271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4"/>
          <p:cNvSpPr/>
          <p:nvPr/>
        </p:nvSpPr>
        <p:spPr>
          <a:xfrm>
            <a:off x="9639300" y="3911203"/>
            <a:ext cx="18542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698500" y="4348659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838200" y="4050903"/>
            <a:ext cx="112136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 · 발표 준비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2222500" y="4348659"/>
            <a:ext cx="55626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8"/>
          <p:cNvSpPr/>
          <p:nvPr/>
        </p:nvSpPr>
        <p:spPr>
          <a:xfrm>
            <a:off x="7785100" y="3914378"/>
            <a:ext cx="2781300" cy="437455"/>
          </a:xfrm>
          <a:prstGeom prst="rect">
            <a:avLst/>
          </a:prstGeom>
          <a:solidFill>
            <a:srgbClr val="C9C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59"/>
          <p:cNvSpPr/>
          <p:nvPr/>
        </p:nvSpPr>
        <p:spPr>
          <a:xfrm>
            <a:off x="7785100" y="4348659"/>
            <a:ext cx="2781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0"/>
          <p:cNvSpPr/>
          <p:nvPr/>
        </p:nvSpPr>
        <p:spPr>
          <a:xfrm>
            <a:off x="10566400" y="4348659"/>
            <a:ext cx="9271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1"/>
          <p:cNvSpPr/>
          <p:nvPr/>
        </p:nvSpPr>
        <p:spPr>
          <a:xfrm>
            <a:off x="698500" y="4786114"/>
            <a:ext cx="1524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838200" y="4488359"/>
            <a:ext cx="52070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리허설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2222500" y="4786114"/>
            <a:ext cx="83439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4"/>
          <p:cNvSpPr/>
          <p:nvPr/>
        </p:nvSpPr>
        <p:spPr>
          <a:xfrm>
            <a:off x="10566400" y="4351834"/>
            <a:ext cx="927100" cy="437455"/>
          </a:xfrm>
          <a:prstGeom prst="rect">
            <a:avLst/>
          </a:prstGeom>
          <a:solidFill>
            <a:srgbClr val="12A15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5"/>
          <p:cNvSpPr/>
          <p:nvPr/>
        </p:nvSpPr>
        <p:spPr>
          <a:xfrm>
            <a:off x="10566400" y="4786114"/>
            <a:ext cx="9271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723900" y="5071864"/>
            <a:ext cx="501340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첫날 API 명세를 먼저 확정하고 목 서버로 프론트 개발 시작</a:t>
            </a:r>
            <a:endParaRPr lang="en-US" sz="1300" dirty="0"/>
          </a:p>
        </p:txBody>
      </p:sp>
      <p:sp>
        <p:nvSpPr>
          <p:cNvPr id="70" name="Text 67"/>
          <p:cNvSpPr txBox="1"/>
          <p:nvPr/>
        </p:nvSpPr>
        <p:spPr>
          <a:xfrm>
            <a:off x="723900" y="5433814"/>
            <a:ext cx="38938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매일 저녁 API 검증 스크립트(13개 항목) 실행</a:t>
            </a:r>
            <a:endParaRPr lang="en-US" sz="1300" dirty="0"/>
          </a:p>
        </p:txBody>
      </p:sp>
      <p:sp>
        <p:nvSpPr>
          <p:cNvPr id="71" name="Text 68"/>
          <p:cNvSpPr txBox="1"/>
          <p:nvPr/>
        </p:nvSpPr>
        <p:spPr>
          <a:xfrm>
            <a:off x="6248400" y="5071864"/>
            <a:ext cx="338042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D4 1차 통합, D8 시연 PC에서 2차 통합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6248400" y="5433814"/>
            <a:ext cx="473603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PR이 너무 크거나 담당 밖 파일을 고치면 머지하지 않음</a:t>
            </a:r>
            <a:endParaRPr lang="en-US" sz="1300" dirty="0"/>
          </a:p>
        </p:txBody>
      </p:sp>
      <p:sp>
        <p:nvSpPr>
          <p:cNvPr id="73" name="Text 70"/>
          <p:cNvSpPr txBox="1"/>
          <p:nvPr/>
        </p:nvSpPr>
        <p:spPr>
          <a:xfrm>
            <a:off x="11422856" y="6483350"/>
            <a:ext cx="17224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147685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235200"/>
            <a:ext cx="2565400" cy="254000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Shape 2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732" y="2344928"/>
            <a:ext cx="1630936" cy="2320544"/>
          </a:xfrm>
          <a:prstGeom prst="rect">
            <a:avLst/>
          </a:prstGeom>
          <a:ln w="6350">
            <a:solidFill>
              <a:srgbClr val="E5E8EB"/>
            </a:solidFill>
          </a:ln>
        </p:spPr>
      </p:pic>
      <p:sp>
        <p:nvSpPr>
          <p:cNvPr id="7" name="Text 4"/>
          <p:cNvSpPr txBox="1"/>
          <p:nvPr/>
        </p:nvSpPr>
        <p:spPr>
          <a:xfrm>
            <a:off x="698500" y="4895850"/>
            <a:ext cx="168165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상품 등록 · 검수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8500" y="5232400"/>
            <a:ext cx="2603500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ko-KR" alt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</a:t>
            </a: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등록 후 관리자 승인을 받아야 노출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41700" y="2235200"/>
            <a:ext cx="2565400" cy="254000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Shape 6 화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1428" y="2519674"/>
            <a:ext cx="2345944" cy="1971053"/>
          </a:xfrm>
          <a:prstGeom prst="rect">
            <a:avLst/>
          </a:prstGeom>
          <a:ln w="6350">
            <a:solidFill>
              <a:srgbClr val="E5E8EB"/>
            </a:solidFill>
          </a:ln>
        </p:spPr>
      </p:pic>
      <p:sp>
        <p:nvSpPr>
          <p:cNvPr id="11" name="Text 8"/>
          <p:cNvSpPr txBox="1"/>
          <p:nvPr/>
        </p:nvSpPr>
        <p:spPr>
          <a:xfrm>
            <a:off x="3441700" y="4895850"/>
            <a:ext cx="102890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검색 · 찜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41700" y="5232400"/>
            <a:ext cx="25627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키워드 검색, 카테고리 필터, 페이징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84900" y="2235200"/>
            <a:ext cx="2565400" cy="254000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Shape 10 화면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4628" y="2729340"/>
            <a:ext cx="2345944" cy="1551720"/>
          </a:xfrm>
          <a:prstGeom prst="rect">
            <a:avLst/>
          </a:prstGeom>
          <a:ln w="6350">
            <a:solidFill>
              <a:srgbClr val="E5E8EB"/>
            </a:solidFill>
          </a:ln>
        </p:spPr>
      </p:pic>
      <p:sp>
        <p:nvSpPr>
          <p:cNvPr id="15" name="Text 12"/>
          <p:cNvSpPr txBox="1"/>
          <p:nvPr/>
        </p:nvSpPr>
        <p:spPr>
          <a:xfrm>
            <a:off x="6184900" y="4895850"/>
            <a:ext cx="11063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안전 거래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84900" y="5232400"/>
            <a:ext cx="186301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구매, 송장 입력, 구매확정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28100" y="2235200"/>
            <a:ext cx="2565400" cy="254000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Shape 14 화면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37828" y="3010700"/>
            <a:ext cx="2345944" cy="988999"/>
          </a:xfrm>
          <a:prstGeom prst="rect">
            <a:avLst/>
          </a:prstGeom>
          <a:ln w="6350">
            <a:solidFill>
              <a:srgbClr val="E5E8EB"/>
            </a:solidFill>
          </a:ln>
        </p:spPr>
      </p:pic>
      <p:sp>
        <p:nvSpPr>
          <p:cNvPr id="19" name="Text 16"/>
          <p:cNvSpPr txBox="1"/>
          <p:nvPr/>
        </p:nvSpPr>
        <p:spPr>
          <a:xfrm>
            <a:off x="8928100" y="4895850"/>
            <a:ext cx="11063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분쟁 처리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928100" y="5232400"/>
            <a:ext cx="202658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증빙 확인 후 환불 또는 확정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1422856" y="6483350"/>
            <a:ext cx="17224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147685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565400"/>
            <a:ext cx="10795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98500" y="3108325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698500" y="2736850"/>
            <a:ext cx="81696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968500" y="3108325"/>
            <a:ext cx="9525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336800" y="2740025"/>
            <a:ext cx="80694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 18</a:t>
            </a:r>
            <a:endParaRPr lang="en-US" sz="1350" dirty="0"/>
          </a:p>
        </p:txBody>
      </p:sp>
      <p:pic>
        <p:nvPicPr>
          <p:cNvPr id="10" name="Image 1" descr="/tmp/claude-0/-home-claude/5e2033b7-23f8-5e38-a464-76ca5369ce45/scratchpad/pptx/shot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500" y="2698750"/>
            <a:ext cx="279400" cy="279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89846" y="2740025"/>
            <a:ext cx="4129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Vite</a:t>
            </a:r>
            <a:endParaRPr lang="en-US" sz="1350" dirty="0"/>
          </a:p>
        </p:txBody>
      </p:sp>
      <p:pic>
        <p:nvPicPr>
          <p:cNvPr id="12" name="Image 2" descr="/tmp/claude-0/-home-claude/5e2033b7-23f8-5e38-a464-76ca5369ce45/scratchpad/pptx/shot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1546" y="2698750"/>
            <a:ext cx="279400" cy="2794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48895" y="2740025"/>
            <a:ext cx="76835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Zustand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4280595" y="2698750"/>
            <a:ext cx="279400" cy="279400"/>
          </a:xfrm>
          <a:prstGeom prst="roundRect">
            <a:avLst>
              <a:gd name="adj" fmla="val 22727"/>
            </a:avLst>
          </a:prstGeom>
          <a:solidFill>
            <a:srgbClr val="443E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 txBox="1"/>
          <p:nvPr/>
        </p:nvSpPr>
        <p:spPr>
          <a:xfrm>
            <a:off x="4342705" y="2765425"/>
            <a:ext cx="25677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Zu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5963345" y="2740025"/>
            <a:ext cx="56852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Axios</a:t>
            </a:r>
            <a:endParaRPr lang="en-US" sz="1350" dirty="0"/>
          </a:p>
        </p:txBody>
      </p:sp>
      <p:pic>
        <p:nvPicPr>
          <p:cNvPr id="17" name="Image 3" descr="/tmp/claude-0/-home-claude/5e2033b7-23f8-5e38-a464-76ca5369ce45/scratchpad/pptx/shot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5045" y="2698750"/>
            <a:ext cx="279400" cy="27940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98500" y="3648075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698500" y="3276600"/>
            <a:ext cx="78988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Backend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1968500" y="3648075"/>
            <a:ext cx="9525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2336800" y="3279775"/>
            <a:ext cx="125882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Boot 4</a:t>
            </a:r>
            <a:endParaRPr lang="en-US" sz="1350" dirty="0"/>
          </a:p>
        </p:txBody>
      </p:sp>
      <p:pic>
        <p:nvPicPr>
          <p:cNvPr id="22" name="Image 4" descr="/tmp/claude-0/-home-claude/5e2033b7-23f8-5e38-a464-76ca5369ce45/scratchpad/pptx/shot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8500" y="3238500"/>
            <a:ext cx="279400" cy="2794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108450" y="3279775"/>
            <a:ext cx="72142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 17</a:t>
            </a:r>
            <a:endParaRPr lang="en-US" sz="1350" dirty="0"/>
          </a:p>
        </p:txBody>
      </p:sp>
      <p:pic>
        <p:nvPicPr>
          <p:cNvPr id="24" name="Image 5" descr="/tmp/claude-0/-home-claude/5e2033b7-23f8-5e38-a464-76ca5369ce45/scratchpad/pptx/shot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0150" y="3238500"/>
            <a:ext cx="279400" cy="2794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375970" y="3279775"/>
            <a:ext cx="14191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Spring Security</a:t>
            </a:r>
            <a:endParaRPr lang="en-US" sz="1350" dirty="0"/>
          </a:p>
        </p:txBody>
      </p:sp>
      <p:pic>
        <p:nvPicPr>
          <p:cNvPr id="26" name="Image 6" descr="/tmp/claude-0/-home-claude/5e2033b7-23f8-5e38-a464-76ca5369ce45/scratchpad/pptx/shot1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7670" y="3238500"/>
            <a:ext cx="279400" cy="27940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290792" y="3279775"/>
            <a:ext cx="46355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</a:t>
            </a:r>
            <a:endParaRPr lang="en-US" sz="1350" dirty="0"/>
          </a:p>
        </p:txBody>
      </p:sp>
      <p:pic>
        <p:nvPicPr>
          <p:cNvPr id="28" name="Image 7" descr="/tmp/claude-0/-home-claude/5e2033b7-23f8-5e38-a464-76ca5369ce45/scratchpad/pptx/shot1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2492" y="3238500"/>
            <a:ext cx="279400" cy="279400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8300442" y="3279775"/>
            <a:ext cx="42247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JPA</a:t>
            </a:r>
            <a:endParaRPr lang="en-US" sz="1350" dirty="0"/>
          </a:p>
        </p:txBody>
      </p:sp>
      <p:pic>
        <p:nvPicPr>
          <p:cNvPr id="30" name="Image 8" descr="/tmp/claude-0/-home-claude/5e2033b7-23f8-5e38-a464-76ca5369ce45/scratchpad/pptx/shot1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2142" y="3238500"/>
            <a:ext cx="279400" cy="279400"/>
          </a:xfrm>
          <a:prstGeom prst="rect">
            <a:avLst/>
          </a:prstGeom>
        </p:spPr>
      </p:pic>
      <p:sp>
        <p:nvSpPr>
          <p:cNvPr id="31" name="Shape 20"/>
          <p:cNvSpPr/>
          <p:nvPr/>
        </p:nvSpPr>
        <p:spPr>
          <a:xfrm>
            <a:off x="698500" y="4206875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1"/>
          <p:cNvSpPr txBox="1"/>
          <p:nvPr/>
        </p:nvSpPr>
        <p:spPr>
          <a:xfrm>
            <a:off x="698500" y="3829050"/>
            <a:ext cx="9760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화면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1968500" y="4206875"/>
            <a:ext cx="9525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3"/>
          <p:cNvSpPr txBox="1"/>
          <p:nvPr/>
        </p:nvSpPr>
        <p:spPr>
          <a:xfrm>
            <a:off x="2336800" y="3829050"/>
            <a:ext cx="94989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Thymeleaf</a:t>
            </a:r>
            <a:endParaRPr lang="en-US" sz="1350" dirty="0"/>
          </a:p>
        </p:txBody>
      </p:sp>
      <p:pic>
        <p:nvPicPr>
          <p:cNvPr id="35" name="Image 9" descr="/tmp/claude-0/-home-claude/5e2033b7-23f8-5e38-a464-76ca5369ce45/scratchpad/pptx/shot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68500" y="3787775"/>
            <a:ext cx="279400" cy="279400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698500" y="4746625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5"/>
          <p:cNvSpPr txBox="1"/>
          <p:nvPr/>
        </p:nvSpPr>
        <p:spPr>
          <a:xfrm>
            <a:off x="698500" y="4375150"/>
            <a:ext cx="83581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</a:t>
            </a:r>
            <a:endParaRPr lang="en-US" sz="1300" dirty="0"/>
          </a:p>
        </p:txBody>
      </p:sp>
      <p:sp>
        <p:nvSpPr>
          <p:cNvPr id="38" name="Shape 26"/>
          <p:cNvSpPr/>
          <p:nvPr/>
        </p:nvSpPr>
        <p:spPr>
          <a:xfrm>
            <a:off x="1968500" y="4746625"/>
            <a:ext cx="9525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7"/>
          <p:cNvSpPr txBox="1"/>
          <p:nvPr/>
        </p:nvSpPr>
        <p:spPr>
          <a:xfrm>
            <a:off x="2336800" y="4378325"/>
            <a:ext cx="130227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MariaDB 10.11</a:t>
            </a:r>
            <a:endParaRPr lang="en-US" sz="1350" dirty="0"/>
          </a:p>
        </p:txBody>
      </p:sp>
      <p:pic>
        <p:nvPicPr>
          <p:cNvPr id="40" name="Image 10" descr="/tmp/claude-0/-home-claude/5e2033b7-23f8-5e38-a464-76ca5369ce45/scratchpad/pptx/shot2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68500" y="4337050"/>
            <a:ext cx="279400" cy="279400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698500" y="5286375"/>
            <a:ext cx="127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29"/>
          <p:cNvSpPr txBox="1"/>
          <p:nvPr/>
        </p:nvSpPr>
        <p:spPr>
          <a:xfrm>
            <a:off x="698500" y="4914900"/>
            <a:ext cx="52963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Tools</a:t>
            </a:r>
            <a:endParaRPr lang="en-US" sz="1300" dirty="0"/>
          </a:p>
        </p:txBody>
      </p:sp>
      <p:sp>
        <p:nvSpPr>
          <p:cNvPr id="43" name="Shape 30"/>
          <p:cNvSpPr/>
          <p:nvPr/>
        </p:nvSpPr>
        <p:spPr>
          <a:xfrm>
            <a:off x="1968500" y="5286375"/>
            <a:ext cx="9525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1"/>
          <p:cNvSpPr txBox="1"/>
          <p:nvPr/>
        </p:nvSpPr>
        <p:spPr>
          <a:xfrm>
            <a:off x="2336800" y="4918075"/>
            <a:ext cx="67300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350" dirty="0"/>
          </a:p>
        </p:txBody>
      </p:sp>
      <p:pic>
        <p:nvPicPr>
          <p:cNvPr id="45" name="Image 11" descr="/tmp/claude-0/-home-claude/5e2033b7-23f8-5e38-a464-76ca5369ce45/scratchpad/pptx/shot2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68500" y="4876800"/>
            <a:ext cx="279400" cy="279400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3555901" y="4918075"/>
            <a:ext cx="64472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IntelliJ</a:t>
            </a:r>
            <a:endParaRPr lang="en-US" sz="1350" dirty="0"/>
          </a:p>
        </p:txBody>
      </p:sp>
      <p:pic>
        <p:nvPicPr>
          <p:cNvPr id="47" name="Image 12" descr="/tmp/claude-0/-home-claude/5e2033b7-23f8-5e38-a464-76ca5369ce45/scratchpad/pptx/shot2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87601" y="4876800"/>
            <a:ext cx="279400" cy="279400"/>
          </a:xfrm>
          <a:prstGeom prst="rect">
            <a:avLst/>
          </a:prstGeom>
        </p:spPr>
      </p:pic>
      <p:sp>
        <p:nvSpPr>
          <p:cNvPr id="48" name="Text 33"/>
          <p:cNvSpPr txBox="1"/>
          <p:nvPr/>
        </p:nvSpPr>
        <p:spPr>
          <a:xfrm>
            <a:off x="4746724" y="4918075"/>
            <a:ext cx="8066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Code</a:t>
            </a:r>
            <a:endParaRPr lang="en-US" sz="1350" dirty="0"/>
          </a:p>
        </p:txBody>
      </p:sp>
      <p:pic>
        <p:nvPicPr>
          <p:cNvPr id="49" name="Image 13" descr="/tmp/claude-0/-home-claude/5e2033b7-23f8-5e38-a464-76ca5369ce45/scratchpad/pptx/shot2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78424" y="4876800"/>
            <a:ext cx="279400" cy="279400"/>
          </a:xfrm>
          <a:prstGeom prst="rect">
            <a:avLst/>
          </a:prstGeom>
        </p:spPr>
      </p:pic>
      <p:sp>
        <p:nvSpPr>
          <p:cNvPr id="50" name="Text 34"/>
          <p:cNvSpPr txBox="1"/>
          <p:nvPr/>
        </p:nvSpPr>
        <p:spPr>
          <a:xfrm>
            <a:off x="11422856" y="6483350"/>
            <a:ext cx="172244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51698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pic>
        <p:nvPicPr>
          <p:cNvPr id="5" name="Image 1" descr="/tmp/claude-0/-home-claude/5e2033b7-23f8-5e38-a464-76ca5369ce45/scratchpad/pptx/shot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1917700"/>
            <a:ext cx="10795000" cy="3556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98500" y="5670550"/>
            <a:ext cx="9151699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화면과 관리자 화면이 </a:t>
            </a:r>
            <a:r>
              <a:rPr lang="en-US" sz="15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Service</a:t>
            </a:r>
            <a:r>
              <a:rPr lang="en-US" sz="15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호출하도록 구성해 비즈니스 로직을 한 곳에서 관리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74820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ERD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1850430"/>
            <a:ext cx="7112000" cy="4147641"/>
          </a:xfrm>
          <a:prstGeom prst="roundRect">
            <a:avLst>
              <a:gd name="adj" fmla="val 1837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1" descr="/tmp/claude-0/-home-claude/5e2033b7-23f8-5e38-a464-76ca5369ce45/scratchpad/pptx/shot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1863130"/>
            <a:ext cx="7086600" cy="412224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115300" y="2317651"/>
            <a:ext cx="163198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: 거래 = 1 : N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115300" y="2590701"/>
            <a:ext cx="34163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환불 후 재구매 허용, 진행 중 거래는 조건부 UPDATE로 1건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8115300" y="3187601"/>
            <a:ext cx="159897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: 분쟁 = 1 : 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115300" y="3460651"/>
            <a:ext cx="170010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transaction_id UNIQUE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8115300" y="3838476"/>
            <a:ext cx="9165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찜 = N : M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115300" y="4111526"/>
            <a:ext cx="31360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조인 엔티티, (user_id, product_id) UNIQUE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8115300" y="4489351"/>
            <a:ext cx="18207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잔액 = balance_krw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8115300" y="4762401"/>
            <a:ext cx="34163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정산 테이블 없이 컬럼 하나, 거래 금액은 값으로 복사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115300" y="5365651"/>
            <a:ext cx="346587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연관관계 LAZY 명시 · Enum은 STRING 저장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1361638" y="6483350"/>
            <a:ext cx="233462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304349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상품 등록과 검수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pic>
        <p:nvPicPr>
          <p:cNvPr id="5" name="Image 1" descr="/tmp/claude-0/-home-claude/5e2033b7-23f8-5e38-a464-76ca5369ce45/scratchpad/pptx/shot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2667893"/>
            <a:ext cx="5638800" cy="248106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19900" y="2921000"/>
            <a:ext cx="273300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최대 5장, multipart 업로드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819900" y="3282950"/>
            <a:ext cx="34517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 직후에는 검수대기, 목록에 안 보임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6819900" y="3644900"/>
            <a:ext cx="334930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목록은 판매중(ON_SALE) 상품만 노출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819900" y="4006850"/>
            <a:ext cx="265088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반려 시 사유 필수, 최대 200자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819900" y="4368800"/>
            <a:ext cx="259899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· 카테고리 · 페이징 지원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819900" y="4730750"/>
            <a:ext cx="295870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찜은 UNIQUE 제약으로 중복 방지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50663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가상 에스크로: 거래 상태 흐름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pic>
        <p:nvPicPr>
          <p:cNvPr id="5" name="Image 1" descr="/tmp/claude-0/-home-claude/5e2033b7-23f8-5e38-a464-76ca5369ce45/scratchpad/pptx/shot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" y="2146300"/>
            <a:ext cx="10795000" cy="3556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499795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 · 예외 처리 · REST API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1990725"/>
            <a:ext cx="125015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 처리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23900" y="2378075"/>
            <a:ext cx="481793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상태가 바뀌는 규칙 8개를 각각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@Transactional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처리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23900" y="2740918"/>
            <a:ext cx="525780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 환불 시 거래, 상품, 잔액, 분쟁 4개가 같이 바뀌고 실패하면 전부 롤백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23900" y="3350518"/>
            <a:ext cx="406495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변경 코드는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TransactionService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에만 둠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98500" y="3821311"/>
            <a:ext cx="8622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 처리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23900" y="4208661"/>
            <a:ext cx="343176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BusinessException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+ 에러 코드 enum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23900" y="4571504"/>
            <a:ext cx="439921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@RestControllerAdvice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곳에서 에러 응답 생성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48400" y="1990725"/>
            <a:ext cx="136461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REST API 규칙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48400" y="2359025"/>
            <a:ext cx="9525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248400" y="2365375"/>
            <a:ext cx="9525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388100" y="2479675"/>
            <a:ext cx="5397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메서드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200900" y="2359025"/>
            <a:ext cx="42926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4"/>
          <p:cNvSpPr/>
          <p:nvPr/>
        </p:nvSpPr>
        <p:spPr>
          <a:xfrm>
            <a:off x="7200900" y="2365375"/>
            <a:ext cx="42926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340600" y="247967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248400" y="3214985"/>
            <a:ext cx="952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6388100" y="2898775"/>
            <a:ext cx="414933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GET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200900" y="3214985"/>
            <a:ext cx="42926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340600" y="2898775"/>
            <a:ext cx="4064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조회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48400" y="3670895"/>
            <a:ext cx="952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6388100" y="3354685"/>
            <a:ext cx="516533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200900" y="3670895"/>
            <a:ext cx="42926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7340600" y="3354685"/>
            <a:ext cx="116647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생성, 구매 요청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248400" y="4126805"/>
            <a:ext cx="952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6388100" y="3810595"/>
            <a:ext cx="603945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PATCH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200900" y="4126805"/>
            <a:ext cx="42926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7340600" y="3810595"/>
            <a:ext cx="239907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변경 (송장 입력, 구매확정)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248400" y="4582716"/>
            <a:ext cx="952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6388100" y="4266505"/>
            <a:ext cx="70286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DELETE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200900" y="4582716"/>
            <a:ext cx="42926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7340600" y="4266505"/>
            <a:ext cx="601166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찜 해제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248400" y="4728766"/>
            <a:ext cx="5245100" cy="1148060"/>
          </a:xfrm>
          <a:prstGeom prst="roundRect">
            <a:avLst>
              <a:gd name="adj" fmla="val 6637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413500" y="5152926"/>
            <a:ext cx="495300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"success"</a:t>
            </a: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>
                <a:solidFill>
                  <a:srgbClr val="FF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"code"</a:t>
            </a: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"INSUFFICIENT_BALANCE"</a:t>
            </a: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"message"</a:t>
            </a: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"잔액이 부족합니다"</a:t>
            </a: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6413500" y="4893866"/>
            <a:ext cx="495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7F8A9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응답 예시 (400)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191346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분쟁 처리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527300"/>
            <a:ext cx="1729780" cy="1384300"/>
          </a:xfrm>
          <a:prstGeom prst="roundRect">
            <a:avLst>
              <a:gd name="adj" fmla="val 6422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89000" y="2736850"/>
            <a:ext cx="6350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89000" y="3060700"/>
            <a:ext cx="138688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사유 + 증빙 첨부</a:t>
            </a:r>
            <a:endParaRPr lang="en-US" sz="12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신고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567980" y="3086100"/>
            <a:ext cx="177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783880" y="2527300"/>
            <a:ext cx="1729780" cy="1384300"/>
          </a:xfrm>
          <a:prstGeom prst="roundRect">
            <a:avLst>
              <a:gd name="adj" fmla="val 6422"/>
            </a:avLst>
          </a:prstGeom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974380" y="2736850"/>
            <a:ext cx="8622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상태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974380" y="3060700"/>
            <a:ext cx="138688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분쟁(DISPUTED)</a:t>
            </a:r>
            <a:endParaRPr lang="en-US" sz="12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신고와 같은 트랜잭션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653359" y="3086100"/>
            <a:ext cx="177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869259" y="2527300"/>
            <a:ext cx="1729780" cy="1384300"/>
          </a:xfrm>
          <a:prstGeom prst="roundRect">
            <a:avLst>
              <a:gd name="adj" fmla="val 6422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5059759" y="2736850"/>
            <a:ext cx="6350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059759" y="3060700"/>
            <a:ext cx="138688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증빙 다운로드</a:t>
            </a:r>
            <a:endParaRPr lang="en-US" sz="12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후 처리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98500" y="4089400"/>
            <a:ext cx="2874070" cy="1231900"/>
          </a:xfrm>
          <a:prstGeom prst="roundRect">
            <a:avLst>
              <a:gd name="adj" fmla="val 7216"/>
            </a:avLst>
          </a:prstGeom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939800" y="4324350"/>
            <a:ext cx="8622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 환불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939800" y="4673600"/>
            <a:ext cx="242957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 잔액 복구</a:t>
            </a:r>
            <a:endParaRPr lang="en-US" sz="12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다시 판매중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724970" y="4089400"/>
            <a:ext cx="2874070" cy="1231900"/>
          </a:xfrm>
          <a:prstGeom prst="roundRect">
            <a:avLst>
              <a:gd name="adj" fmla="val 7216"/>
            </a:avLst>
          </a:prstGeom>
          <a:ln w="12700">
            <a:solidFill>
              <a:srgbClr val="12A1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3966270" y="4324350"/>
            <a:ext cx="8622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2A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 확정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966270" y="4673600"/>
            <a:ext cx="242957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판매자에게 정산</a:t>
            </a:r>
            <a:endParaRPr lang="en-US" sz="12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거래완료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954639" y="2546350"/>
            <a:ext cx="206903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증빙 다운로드 경로 2개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954639" y="2914650"/>
            <a:ext cx="2209205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6954639" y="2921000"/>
            <a:ext cx="2209205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7094339" y="3035300"/>
            <a:ext cx="5397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9163844" y="2914650"/>
            <a:ext cx="2329656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4"/>
          <p:cNvSpPr/>
          <p:nvPr/>
        </p:nvSpPr>
        <p:spPr>
          <a:xfrm>
            <a:off x="9163844" y="2921000"/>
            <a:ext cx="2329656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9303544" y="3035300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954639" y="3956050"/>
            <a:ext cx="220920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7094339" y="3454400"/>
            <a:ext cx="104324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당사자 (React)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9163844" y="3956050"/>
            <a:ext cx="2329656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9303544" y="3479800"/>
            <a:ext cx="2088356" cy="36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/api/disputes/…</a:t>
            </a:r>
            <a:endParaRPr lang="en-US" sz="9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헤더 + blob</a:t>
            </a:r>
            <a:endParaRPr lang="en-US" sz="930" dirty="0"/>
          </a:p>
        </p:txBody>
      </p:sp>
      <p:sp>
        <p:nvSpPr>
          <p:cNvPr id="33" name="Shape 30"/>
          <p:cNvSpPr/>
          <p:nvPr/>
        </p:nvSpPr>
        <p:spPr>
          <a:xfrm>
            <a:off x="6954639" y="4597400"/>
            <a:ext cx="220920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7094339" y="4095750"/>
            <a:ext cx="139106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(Thymeleaf)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163844" y="4597400"/>
            <a:ext cx="2329656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9303544" y="4121150"/>
            <a:ext cx="2088356" cy="362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3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/admin/disputes/…</a:t>
            </a:r>
            <a:endParaRPr lang="en-US" sz="9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+ 링크</a:t>
            </a:r>
            <a:endParaRPr lang="en-US" sz="930" dirty="0"/>
          </a:p>
        </p:txBody>
      </p:sp>
      <p:sp>
        <p:nvSpPr>
          <p:cNvPr id="37" name="Text 34"/>
          <p:cNvSpPr txBox="1"/>
          <p:nvPr/>
        </p:nvSpPr>
        <p:spPr>
          <a:xfrm>
            <a:off x="6954639" y="4768850"/>
            <a:ext cx="45769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JWT는 주소창 이동으로 인증되지 않아 경로를 나눔</a:t>
            </a:r>
            <a:endParaRPr lang="en-US" sz="115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15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당사자와 관리자만</a:t>
            </a: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다운로드 가능</a:t>
            </a:r>
            <a:endParaRPr lang="en-US" sz="1150" dirty="0"/>
          </a:p>
        </p:txBody>
      </p:sp>
      <p:sp>
        <p:nvSpPr>
          <p:cNvPr id="38" name="Text 3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1128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인증 · 인가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1856581"/>
            <a:ext cx="25782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인증: Security 필터 체인 3개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8500" y="2224881"/>
            <a:ext cx="5715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98500" y="2231231"/>
            <a:ext cx="5715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787400" y="2345531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1270000" y="2224881"/>
            <a:ext cx="1143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270000" y="2231231"/>
            <a:ext cx="1143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1409700" y="2345531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경로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413000" y="2224881"/>
            <a:ext cx="35052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413000" y="2231231"/>
            <a:ext cx="35052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2552700" y="2345531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방식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98500" y="3062387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94556" y="2764631"/>
            <a:ext cx="17938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70000" y="3062387"/>
            <a:ext cx="1143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1409700" y="2764631"/>
            <a:ext cx="48984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/api/**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413000" y="3062387"/>
            <a:ext cx="35052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2552700" y="2764631"/>
            <a:ext cx="178789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JWT, 세션 없음, CSRF off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8500" y="3499842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894556" y="3202087"/>
            <a:ext cx="17938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270000" y="3499842"/>
            <a:ext cx="1143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1409700" y="3202087"/>
            <a:ext cx="69939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/admin/**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413000" y="3499842"/>
            <a:ext cx="35052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2552700" y="3202087"/>
            <a:ext cx="262988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+ 폼 로그인, CSRF on, ADMIN만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98500" y="3937298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894556" y="3639542"/>
            <a:ext cx="17938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270000" y="3937298"/>
            <a:ext cx="1143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1409700" y="3639542"/>
            <a:ext cx="4198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외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2413000" y="3937298"/>
            <a:ext cx="35052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2552700" y="3639542"/>
            <a:ext cx="118225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정적 리소스 허용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23900" y="4108748"/>
            <a:ext cx="348999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HS256, 24시간, 비밀키는 환경변수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23900" y="4470698"/>
            <a:ext cx="3770694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비밀번호 BCrypt, 로그인 실패는 401로 통일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23900" y="4832648"/>
            <a:ext cx="325351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기능은 REST API로 열지 않음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6273800" y="1856581"/>
            <a:ext cx="202458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인가: 역할별 허용 동작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273800" y="2224881"/>
            <a:ext cx="1781373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5"/>
          <p:cNvSpPr/>
          <p:nvPr/>
        </p:nvSpPr>
        <p:spPr>
          <a:xfrm>
            <a:off x="6273800" y="2231231"/>
            <a:ext cx="1781373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6413500" y="2345531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055173" y="2224881"/>
            <a:ext cx="1219994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8"/>
          <p:cNvSpPr/>
          <p:nvPr/>
        </p:nvSpPr>
        <p:spPr>
          <a:xfrm>
            <a:off x="8055173" y="2231231"/>
            <a:ext cx="1219994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8395295" y="2345531"/>
            <a:ext cx="5397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9275167" y="2224881"/>
            <a:ext cx="1219994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1"/>
          <p:cNvSpPr/>
          <p:nvPr/>
        </p:nvSpPr>
        <p:spPr>
          <a:xfrm>
            <a:off x="9275167" y="2231231"/>
            <a:ext cx="1219994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2"/>
          <p:cNvSpPr txBox="1"/>
          <p:nvPr/>
        </p:nvSpPr>
        <p:spPr>
          <a:xfrm>
            <a:off x="9615289" y="2345531"/>
            <a:ext cx="5397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10495161" y="2224881"/>
            <a:ext cx="998339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10495161" y="2231231"/>
            <a:ext cx="998339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10724455" y="2345531"/>
            <a:ext cx="5397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6273800" y="3062387"/>
            <a:ext cx="1781373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6413500" y="2764631"/>
            <a:ext cx="6992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등록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8055173" y="3062387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8572103" y="2764631"/>
            <a:ext cx="18603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9275167" y="3062387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9811048" y="2764631"/>
            <a:ext cx="14813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10495161" y="3062387"/>
            <a:ext cx="99833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10920214" y="2764631"/>
            <a:ext cx="14813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6273800" y="3499842"/>
            <a:ext cx="1781373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6413500" y="3202087"/>
            <a:ext cx="6992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요청</a:t>
            </a:r>
            <a:endParaRPr lang="en-US" sz="1100" dirty="0"/>
          </a:p>
        </p:txBody>
      </p:sp>
      <p:sp>
        <p:nvSpPr>
          <p:cNvPr id="59" name="Shape 56"/>
          <p:cNvSpPr/>
          <p:nvPr/>
        </p:nvSpPr>
        <p:spPr>
          <a:xfrm>
            <a:off x="8055173" y="3499842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8591054" y="3202087"/>
            <a:ext cx="14813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100" dirty="0"/>
          </a:p>
        </p:txBody>
      </p:sp>
      <p:sp>
        <p:nvSpPr>
          <p:cNvPr id="61" name="Shape 58"/>
          <p:cNvSpPr/>
          <p:nvPr/>
        </p:nvSpPr>
        <p:spPr>
          <a:xfrm>
            <a:off x="9275167" y="3499842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9792097" y="3202087"/>
            <a:ext cx="18603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10495161" y="3499842"/>
            <a:ext cx="99833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10920214" y="3202087"/>
            <a:ext cx="14813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6273800" y="3937298"/>
            <a:ext cx="1781373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6413500" y="3639542"/>
            <a:ext cx="6992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송장 입력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8055173" y="3937298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8315523" y="3639542"/>
            <a:ext cx="6992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거래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9275167" y="3937298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 txBox="1"/>
          <p:nvPr/>
        </p:nvSpPr>
        <p:spPr>
          <a:xfrm>
            <a:off x="9793486" y="3639542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10495161" y="3937298"/>
            <a:ext cx="99833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10902652" y="3639542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6273800" y="4374753"/>
            <a:ext cx="1781373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 txBox="1"/>
          <p:nvPr/>
        </p:nvSpPr>
        <p:spPr>
          <a:xfrm>
            <a:off x="6413500" y="4076998"/>
            <a:ext cx="66040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구매확정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8055173" y="4374753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 txBox="1"/>
          <p:nvPr/>
        </p:nvSpPr>
        <p:spPr>
          <a:xfrm>
            <a:off x="8573492" y="4076998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77" name="Shape 74"/>
          <p:cNvSpPr/>
          <p:nvPr/>
        </p:nvSpPr>
        <p:spPr>
          <a:xfrm>
            <a:off x="9275167" y="4374753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5"/>
          <p:cNvSpPr txBox="1"/>
          <p:nvPr/>
        </p:nvSpPr>
        <p:spPr>
          <a:xfrm>
            <a:off x="9535517" y="4076998"/>
            <a:ext cx="6992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거래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10495161" y="4374753"/>
            <a:ext cx="99833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7"/>
          <p:cNvSpPr txBox="1"/>
          <p:nvPr/>
        </p:nvSpPr>
        <p:spPr>
          <a:xfrm>
            <a:off x="10902652" y="4076998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81" name="Shape 78"/>
          <p:cNvSpPr/>
          <p:nvPr/>
        </p:nvSpPr>
        <p:spPr>
          <a:xfrm>
            <a:off x="6273800" y="4812209"/>
            <a:ext cx="1781373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79"/>
          <p:cNvSpPr txBox="1"/>
          <p:nvPr/>
        </p:nvSpPr>
        <p:spPr>
          <a:xfrm>
            <a:off x="6413500" y="4514453"/>
            <a:ext cx="6992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신고</a:t>
            </a:r>
            <a:endParaRPr lang="en-US" sz="1100" dirty="0"/>
          </a:p>
        </p:txBody>
      </p:sp>
      <p:sp>
        <p:nvSpPr>
          <p:cNvPr id="83" name="Shape 80"/>
          <p:cNvSpPr/>
          <p:nvPr/>
        </p:nvSpPr>
        <p:spPr>
          <a:xfrm>
            <a:off x="8055173" y="4812209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1"/>
          <p:cNvSpPr txBox="1"/>
          <p:nvPr/>
        </p:nvSpPr>
        <p:spPr>
          <a:xfrm>
            <a:off x="8573492" y="4514453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85" name="Shape 82"/>
          <p:cNvSpPr/>
          <p:nvPr/>
        </p:nvSpPr>
        <p:spPr>
          <a:xfrm>
            <a:off x="9275167" y="4812209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83"/>
          <p:cNvSpPr txBox="1"/>
          <p:nvPr/>
        </p:nvSpPr>
        <p:spPr>
          <a:xfrm>
            <a:off x="9535517" y="4514453"/>
            <a:ext cx="69929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 거래</a:t>
            </a:r>
            <a:endParaRPr lang="en-US" sz="1100" dirty="0"/>
          </a:p>
        </p:txBody>
      </p:sp>
      <p:sp>
        <p:nvSpPr>
          <p:cNvPr id="87" name="Shape 84"/>
          <p:cNvSpPr/>
          <p:nvPr/>
        </p:nvSpPr>
        <p:spPr>
          <a:xfrm>
            <a:off x="10495161" y="4812209"/>
            <a:ext cx="99833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10902652" y="4514453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89" name="Shape 86"/>
          <p:cNvSpPr/>
          <p:nvPr/>
        </p:nvSpPr>
        <p:spPr>
          <a:xfrm>
            <a:off x="6273800" y="5249664"/>
            <a:ext cx="1781373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 txBox="1"/>
          <p:nvPr/>
        </p:nvSpPr>
        <p:spPr>
          <a:xfrm>
            <a:off x="6413500" y="4951909"/>
            <a:ext cx="112136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승인 · 반려</a:t>
            </a:r>
            <a:endParaRPr lang="en-US" sz="1100" dirty="0"/>
          </a:p>
        </p:txBody>
      </p:sp>
      <p:sp>
        <p:nvSpPr>
          <p:cNvPr id="91" name="Shape 88"/>
          <p:cNvSpPr/>
          <p:nvPr/>
        </p:nvSpPr>
        <p:spPr>
          <a:xfrm>
            <a:off x="8055173" y="5249664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89"/>
          <p:cNvSpPr txBox="1"/>
          <p:nvPr/>
        </p:nvSpPr>
        <p:spPr>
          <a:xfrm>
            <a:off x="8573492" y="4951909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93" name="Shape 90"/>
          <p:cNvSpPr/>
          <p:nvPr/>
        </p:nvSpPr>
        <p:spPr>
          <a:xfrm>
            <a:off x="9275167" y="5249664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1"/>
          <p:cNvSpPr txBox="1"/>
          <p:nvPr/>
        </p:nvSpPr>
        <p:spPr>
          <a:xfrm>
            <a:off x="9793486" y="4951909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95" name="Shape 92"/>
          <p:cNvSpPr/>
          <p:nvPr/>
        </p:nvSpPr>
        <p:spPr>
          <a:xfrm>
            <a:off x="10495161" y="5249664"/>
            <a:ext cx="99833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3"/>
          <p:cNvSpPr txBox="1"/>
          <p:nvPr/>
        </p:nvSpPr>
        <p:spPr>
          <a:xfrm>
            <a:off x="10901263" y="4951909"/>
            <a:ext cx="18603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1100" dirty="0"/>
          </a:p>
        </p:txBody>
      </p:sp>
      <p:sp>
        <p:nvSpPr>
          <p:cNvPr id="97" name="Shape 94"/>
          <p:cNvSpPr/>
          <p:nvPr/>
        </p:nvSpPr>
        <p:spPr>
          <a:xfrm>
            <a:off x="6273800" y="5687120"/>
            <a:ext cx="1781373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5"/>
          <p:cNvSpPr txBox="1"/>
          <p:nvPr/>
        </p:nvSpPr>
        <p:spPr>
          <a:xfrm>
            <a:off x="6413500" y="5389364"/>
            <a:ext cx="112136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 환불 · 확정</a:t>
            </a:r>
            <a:endParaRPr lang="en-US" sz="1100" dirty="0"/>
          </a:p>
        </p:txBody>
      </p:sp>
      <p:sp>
        <p:nvSpPr>
          <p:cNvPr id="99" name="Shape 96"/>
          <p:cNvSpPr/>
          <p:nvPr/>
        </p:nvSpPr>
        <p:spPr>
          <a:xfrm>
            <a:off x="8055173" y="5687120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7"/>
          <p:cNvSpPr txBox="1"/>
          <p:nvPr/>
        </p:nvSpPr>
        <p:spPr>
          <a:xfrm>
            <a:off x="8573492" y="5389364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101" name="Shape 98"/>
          <p:cNvSpPr/>
          <p:nvPr/>
        </p:nvSpPr>
        <p:spPr>
          <a:xfrm>
            <a:off x="9275167" y="5687120"/>
            <a:ext cx="1219994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99"/>
          <p:cNvSpPr txBox="1"/>
          <p:nvPr/>
        </p:nvSpPr>
        <p:spPr>
          <a:xfrm>
            <a:off x="9793486" y="5389364"/>
            <a:ext cx="1832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C9CF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</a:t>
            </a:r>
            <a:endParaRPr lang="en-US" sz="1100" dirty="0"/>
          </a:p>
        </p:txBody>
      </p:sp>
      <p:sp>
        <p:nvSpPr>
          <p:cNvPr id="103" name="Shape 100"/>
          <p:cNvSpPr/>
          <p:nvPr/>
        </p:nvSpPr>
        <p:spPr>
          <a:xfrm>
            <a:off x="10495161" y="5687120"/>
            <a:ext cx="99833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Text 101"/>
          <p:cNvSpPr txBox="1"/>
          <p:nvPr/>
        </p:nvSpPr>
        <p:spPr>
          <a:xfrm>
            <a:off x="10901263" y="5389364"/>
            <a:ext cx="18603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○</a:t>
            </a:r>
            <a:endParaRPr lang="en-US" sz="1100" dirty="0"/>
          </a:p>
        </p:txBody>
      </p:sp>
      <p:sp>
        <p:nvSpPr>
          <p:cNvPr id="105" name="Text 102"/>
          <p:cNvSpPr txBox="1"/>
          <p:nvPr/>
        </p:nvSpPr>
        <p:spPr>
          <a:xfrm>
            <a:off x="6273800" y="5852220"/>
            <a:ext cx="44724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5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당사자 검사는 Service에서, 관리자 처리는 관리자 화면(세션)에서만</a:t>
            </a:r>
            <a:endParaRPr lang="en-US" sz="1050" dirty="0"/>
          </a:p>
        </p:txBody>
      </p:sp>
      <p:sp>
        <p:nvSpPr>
          <p:cNvPr id="106" name="Text 103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415807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페이지 (Thymeleaf)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" y="3221080"/>
            <a:ext cx="5230368" cy="1421681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Shape 2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67384"/>
            <a:ext cx="4937760" cy="1129073"/>
          </a:xfrm>
          <a:prstGeom prst="rect">
            <a:avLst/>
          </a:prstGeom>
          <a:ln w="6350">
            <a:solidFill>
              <a:srgbClr val="E5E8EB"/>
            </a:solidFill>
          </a:ln>
        </p:spPr>
      </p:pic>
      <p:sp>
        <p:nvSpPr>
          <p:cNvPr id="7" name="Text 4"/>
          <p:cNvSpPr txBox="1"/>
          <p:nvPr/>
        </p:nvSpPr>
        <p:spPr>
          <a:xfrm>
            <a:off x="6286500" y="2475607"/>
            <a:ext cx="8622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구성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311900" y="2862957"/>
            <a:ext cx="13458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로그인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11900" y="3224907"/>
            <a:ext cx="204425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검수 (승인 / 반려)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311900" y="3586857"/>
            <a:ext cx="372913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처리 (증빙 다운로드, 강제 환불 / 확정)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286500" y="4056757"/>
            <a:ext cx="172588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폼 처리 (PRG 패턴)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11900" y="4444107"/>
            <a:ext cx="485449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@Valid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검증, 반려 사유가 비면 같은 화면에 오류 표시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11900" y="4806950"/>
            <a:ext cx="443822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성공하면 redirect해서 새로고침해도 중복 제출 안 됨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311900" y="5168900"/>
            <a:ext cx="395593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CSRF 토큰은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th:action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자동으로 넣어 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393627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 구조 · 상태 관리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2429768"/>
            <a:ext cx="125015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컴포넌트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8500" y="2798068"/>
            <a:ext cx="278517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98500" y="2804418"/>
            <a:ext cx="278517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38200" y="2918718"/>
            <a:ext cx="6858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컴포넌트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83670" y="2798068"/>
            <a:ext cx="245993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3483670" y="2804418"/>
            <a:ext cx="245993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3623370" y="2918718"/>
            <a:ext cx="726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화면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98500" y="3644801"/>
            <a:ext cx="27851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38200" y="3337818"/>
            <a:ext cx="580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Layout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83670" y="3644801"/>
            <a:ext cx="245993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3623370" y="3337818"/>
            <a:ext cx="118137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(헤더 포함)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8500" y="4091484"/>
            <a:ext cx="27851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38200" y="3784501"/>
            <a:ext cx="9906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ProductCard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83670" y="4091484"/>
            <a:ext cx="245993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3623370" y="3784501"/>
            <a:ext cx="16085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목록, 마이페이지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98500" y="4538166"/>
            <a:ext cx="27851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38200" y="4231184"/>
            <a:ext cx="99990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StatusBadge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483670" y="4538166"/>
            <a:ext cx="245993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3623370" y="4231184"/>
            <a:ext cx="154497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· 거래 상태 표시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98500" y="4984849"/>
            <a:ext cx="27851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838200" y="4677866"/>
            <a:ext cx="9814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RequireAuth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483670" y="4984849"/>
            <a:ext cx="245993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3623370" y="4677866"/>
            <a:ext cx="15630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필요한 페이지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98500" y="5431532"/>
            <a:ext cx="278517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838200" y="5124549"/>
            <a:ext cx="186267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Button, LoadingSpinner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483670" y="5431532"/>
            <a:ext cx="245993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3623370" y="5124549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6248400" y="2429768"/>
            <a:ext cx="2445083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Zustand 스토어 2개만 사용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248400" y="2791718"/>
            <a:ext cx="5245100" cy="1630462"/>
          </a:xfrm>
          <a:prstGeom prst="roundRect">
            <a:avLst>
              <a:gd name="adj" fmla="val 4674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6426200" y="3234928"/>
            <a:ext cx="4927600" cy="102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7F8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로그인 정보 (새로고침해도 유지)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authStore = { accessToken, user, setAuth, clear }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7F8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찜한 상품 id 목록 (목록 · 상세 · 마이페이지 공유)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wishStore = { wishedIds, add, remove }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426200" y="2969518"/>
            <a:ext cx="4927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7F8A9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src/stores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6273800" y="4587280"/>
            <a:ext cx="331152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검색어, 페이지, 탭은 URL 쿼리로 관리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273800" y="4949230"/>
            <a:ext cx="321573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로딩, 에러, 폼 입력은 각 화면의 state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389893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연동 · 화면 상태 처리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294632"/>
            <a:ext cx="5611019" cy="2509143"/>
          </a:xfrm>
          <a:prstGeom prst="roundRect">
            <a:avLst>
              <a:gd name="adj" fmla="val 3037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89000" y="2750542"/>
            <a:ext cx="5337443" cy="1878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client.interceptors.response.</a:t>
            </a: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(res) =&gt; res.data?.data,       </a:t>
            </a:r>
            <a:r>
              <a:rPr lang="en-US" sz="1050" dirty="0">
                <a:solidFill>
                  <a:srgbClr val="7F8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공통 응답에서 data만 꺼냄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(err) =&gt; {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(status === </a:t>
            </a:r>
            <a:r>
              <a:rPr lang="en-US" sz="1050" dirty="0">
                <a:solidFill>
                  <a:srgbClr val="ADDB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!isAuthApi) {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authStore.clear();          </a:t>
            </a:r>
            <a:r>
              <a:rPr lang="en-US" sz="1050" dirty="0">
                <a:solidFill>
                  <a:srgbClr val="7F8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토큰 만료 시 로그아웃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location.assign(</a:t>
            </a:r>
            <a:r>
              <a:rPr lang="en-US" sz="105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"/login"</a:t>
            </a: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Promise.reject({ code, message, fields });</a:t>
            </a:r>
            <a:endParaRPr lang="en-US" sz="10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89000" y="2485132"/>
            <a:ext cx="526811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7F8A9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src/api/client.js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23900" y="4968875"/>
            <a:ext cx="290458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호출은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src/api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폴더에서만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23900" y="5331718"/>
            <a:ext cx="382158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 메시지는 서버가 준 문구를 그대로 표시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14319" y="2313682"/>
            <a:ext cx="252264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화면에 4가지 상태 구현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14319" y="2681982"/>
            <a:ext cx="889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614319" y="2688332"/>
            <a:ext cx="889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754019" y="2802632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503319" y="2681982"/>
            <a:ext cx="3990181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503319" y="2688332"/>
            <a:ext cx="3990181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643019" y="2802632"/>
            <a:ext cx="726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표시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614319" y="3528715"/>
            <a:ext cx="88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6754019" y="3221732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로딩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503319" y="3528715"/>
            <a:ext cx="3990181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7643019" y="3221732"/>
            <a:ext cx="5397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스피너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614319" y="3975398"/>
            <a:ext cx="88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6754019" y="366841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03319" y="3975398"/>
            <a:ext cx="3990181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643019" y="3668415"/>
            <a:ext cx="53975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614319" y="4422080"/>
            <a:ext cx="88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6754019" y="4115098"/>
            <a:ext cx="580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결과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503319" y="4422080"/>
            <a:ext cx="3990181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7643019" y="4115098"/>
            <a:ext cx="221538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"조건에 맞는 상품이 없습니다"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614319" y="4868763"/>
            <a:ext cx="88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6754019" y="4561780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에러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503319" y="4868763"/>
            <a:ext cx="3990181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7643019" y="4561780"/>
            <a:ext cx="21221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메시지 + 다시 시도 버튼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6614319" y="5040213"/>
            <a:ext cx="426331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입력값 오류는 서버가 준 </a:t>
            </a:r>
            <a:r>
              <a:rPr lang="en-US" sz="980" dirty="0">
                <a:solidFill>
                  <a:srgbClr val="4E596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fields</a:t>
            </a: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각 입력칸 아래에 표시</a:t>
            </a:r>
            <a:endParaRPr lang="en-US" sz="1150" dirty="0"/>
          </a:p>
        </p:txBody>
      </p:sp>
      <p:sp>
        <p:nvSpPr>
          <p:cNvPr id="34" name="Text 31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A924FBCE-13F1-EE3B-6DA8-41E5614AB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899" y="2888857"/>
            <a:ext cx="1378079" cy="183743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FCC0512B-0D20-709B-E958-16F21A5D5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602" y="2895207"/>
            <a:ext cx="2942499" cy="183743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C4F4C5A-88BE-D73C-7F69-EB481C1087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695" y="2787652"/>
            <a:ext cx="920933" cy="19987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546523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· 페이징 · 파일 업로드 · 반응형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3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2565400"/>
            <a:ext cx="117270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· 페이징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8500" y="2927350"/>
            <a:ext cx="5245100" cy="431800"/>
          </a:xfrm>
          <a:prstGeom prst="roundRect">
            <a:avLst>
              <a:gd name="adj" fmla="val 17647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50900" y="3067050"/>
            <a:ext cx="4978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/api/products?q=맥북&amp;categoryId=1&amp;page=0&amp;size=12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23900" y="3524250"/>
            <a:ext cx="38217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조건을 URL에 저장해 뒤로가기 시 유지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23900" y="3886200"/>
            <a:ext cx="31593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번호는 0부터, 화면에서만 +1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98500" y="4330700"/>
            <a:ext cx="202458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업로드 · 다운로드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3900" y="4718050"/>
            <a:ext cx="364801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사진 최대 5장, 5MB, jpg · png · webp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23900" y="5080000"/>
            <a:ext cx="380103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등록 전 미리보기, 분쟁 증빙 첨부 · 다운로드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48400" y="2565400"/>
            <a:ext cx="220160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(3가지 화면 크기)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219706" y="4786434"/>
            <a:ext cx="86868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1열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581329" y="4786434"/>
            <a:ext cx="86868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태블릿 3열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620536" y="4786434"/>
            <a:ext cx="91668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데스크톱 3열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48400" y="5152194"/>
            <a:ext cx="40352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15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모바일에서 가로 스크롤 없음, 버튼 터치 영역 44px 이상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348010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같은 상품 동시 구매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1727200"/>
            <a:ext cx="4995366" cy="1231900"/>
          </a:xfrm>
          <a:prstGeom prst="roundRect">
            <a:avLst>
              <a:gd name="adj" fmla="val 7216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939800" y="1962150"/>
            <a:ext cx="4064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39800" y="2273300"/>
            <a:ext cx="4550866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사람이 같은 상품을 거의 동시에 구매하면 둘 다 성공할 수 있음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8500" y="3098800"/>
            <a:ext cx="4995366" cy="1231900"/>
          </a:xfrm>
          <a:prstGeom prst="roundRect">
            <a:avLst>
              <a:gd name="adj" fmla="val 7216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939800" y="3333750"/>
            <a:ext cx="4064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39800" y="3644900"/>
            <a:ext cx="4550866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"판매중인지 조회 → 상태 변경"이 두 단계라 두 요청 모두 조회를 통과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8500" y="4470400"/>
            <a:ext cx="4995366" cy="1651000"/>
          </a:xfrm>
          <a:prstGeom prst="roundRect">
            <a:avLst>
              <a:gd name="adj" fmla="val 5385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939800" y="4705350"/>
            <a:ext cx="40640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2A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939800" y="5016500"/>
            <a:ext cx="4550866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먼저 처리된 요청만 성공, 나중 요청은 409 에러</a:t>
            </a:r>
            <a:endParaRPr lang="en-US" sz="1300" dirty="0"/>
          </a:p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잔액도 한 번만 차감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39800" y="5588000"/>
            <a:ext cx="45508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TransactionServiceTest</a:t>
            </a:r>
            <a:endParaRPr lang="en-US" sz="1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같은_상품을_두_번_사면_두_번째가_실패한다()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5998666" y="1746250"/>
            <a:ext cx="307871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해결: 조건을 건 UPDATE 한 번으로 처리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98666" y="2070100"/>
            <a:ext cx="5494834" cy="2651026"/>
          </a:xfrm>
          <a:prstGeom prst="roundRect">
            <a:avLst>
              <a:gd name="adj" fmla="val 2874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227266" y="2551410"/>
            <a:ext cx="5109810" cy="1971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products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= </a:t>
            </a:r>
            <a:r>
              <a:rPr lang="en-US" sz="11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'IN_TRADE'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 = :id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status = </a:t>
            </a:r>
            <a:r>
              <a:rPr lang="en-US" sz="1100" dirty="0">
                <a:solidFill>
                  <a:srgbClr val="ECC4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'ON_SALE'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7F8A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TransactionService.purchase()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(updated == </a:t>
            </a:r>
            <a:r>
              <a:rPr lang="en-US" sz="1100" dirty="0">
                <a:solidFill>
                  <a:srgbClr val="ADDB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throw new</a:t>
            </a: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BusinessException(</a:t>
            </a:r>
            <a:r>
              <a:rPr lang="en-US" sz="1100" dirty="0">
                <a:solidFill>
                  <a:srgbClr val="FF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PRODUCT_NOT_ON_SALE</a:t>
            </a: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227266" y="2286000"/>
            <a:ext cx="50757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7F8A9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ProductRepository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342220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상품 목록 N+1 문제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2949476"/>
            <a:ext cx="374991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목록 1번 조회(12건)할 때 실행된 쿼리 수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3378101"/>
            <a:ext cx="6428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전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311400" y="3336826"/>
            <a:ext cx="3662065" cy="279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2311400" y="3336826"/>
            <a:ext cx="3662065" cy="279400"/>
          </a:xfrm>
          <a:prstGeom prst="rect">
            <a:avLst/>
          </a:prstGeom>
          <a:solidFill>
            <a:srgbClr val="C9C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6242745" y="3359051"/>
            <a:ext cx="3276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98500" y="3809901"/>
            <a:ext cx="76249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fetch join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311400" y="3768626"/>
            <a:ext cx="3662065" cy="279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311400" y="3768626"/>
            <a:ext cx="2975372" cy="279400"/>
          </a:xfrm>
          <a:prstGeom prst="rect">
            <a:avLst/>
          </a:prstGeom>
          <a:solidFill>
            <a:srgbClr val="C9C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242745" y="3790851"/>
            <a:ext cx="3276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98500" y="4241701"/>
            <a:ext cx="84504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311400" y="4200426"/>
            <a:ext cx="3662065" cy="279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311400" y="4200426"/>
            <a:ext cx="1716584" cy="279400"/>
          </a:xfrm>
          <a:prstGeom prst="rect">
            <a:avLst/>
          </a:prstGeom>
          <a:solidFill>
            <a:srgbClr val="C9CFD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6242745" y="4222651"/>
            <a:ext cx="3276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98500" y="4673501"/>
            <a:ext cx="8537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찜 수 집계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311400" y="4632226"/>
            <a:ext cx="3662065" cy="279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2311400" y="4632226"/>
            <a:ext cx="457696" cy="279400"/>
          </a:xfrm>
          <a:prstGeom prst="rect">
            <a:avLst/>
          </a:prstGeom>
          <a:solidFill>
            <a:srgbClr val="2F6B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355755" y="4654451"/>
            <a:ext cx="21461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976765" y="2551311"/>
            <a:ext cx="105102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적용한 방법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002165" y="2938661"/>
            <a:ext cx="269189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판매자, 카테고리: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fetch join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002165" y="3301504"/>
            <a:ext cx="330785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목록: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batch_fetch_size: 100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167265" y="3562747"/>
            <a:ext cx="352810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2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컬렉션 fetch join은 페이징과 같이 못 써서 제외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002165" y="3905647"/>
            <a:ext cx="285491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찜 수: </a:t>
            </a:r>
            <a:r>
              <a:rPr lang="en-US" sz="111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한 번에 집계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7002165" y="4268490"/>
            <a:ext cx="235273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응답 내용은 변경 없음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976765" y="4630440"/>
            <a:ext cx="4516735" cy="685800"/>
          </a:xfrm>
          <a:prstGeom prst="roundRect">
            <a:avLst>
              <a:gd name="adj" fmla="val 12963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7154565" y="4789190"/>
            <a:ext cx="41992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배운 점</a:t>
            </a: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번에 다 고치지 않고, 단계마다 쿼리 로그로 효과를 확인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41735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통합 과정에서 생긴 문제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190155"/>
            <a:ext cx="10795000" cy="782241"/>
          </a:xfrm>
          <a:prstGeom prst="roundRect">
            <a:avLst>
              <a:gd name="adj" fmla="val 9741"/>
            </a:avLst>
          </a:prstGeom>
          <a:solidFill>
            <a:srgbClr val="1E24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889000" y="2620665"/>
            <a:ext cx="104521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FF8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SyntaxError: Unexpected token '&lt;', "&lt;!DOCTYPE "... is not valid JSON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89000" y="2355255"/>
            <a:ext cx="10452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7F8A9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D4 1차 통합 때 프론트 콘솔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98500" y="3207345"/>
            <a:ext cx="34544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98500" y="3213695"/>
            <a:ext cx="34544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838200" y="332799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52900" y="3207345"/>
            <a:ext cx="36703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152900" y="3213695"/>
            <a:ext cx="36703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4292600" y="332799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823200" y="3207345"/>
            <a:ext cx="36703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823200" y="3213695"/>
            <a:ext cx="36703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962900" y="332799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8500" y="4284266"/>
            <a:ext cx="34544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838200" y="3747095"/>
            <a:ext cx="197235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응답 대신 HTML이 옴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52900" y="4284266"/>
            <a:ext cx="3670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4292600" y="3747095"/>
            <a:ext cx="3429000" cy="417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필터 체인 순서가 바뀌어 로그인 페이지로 리다이렉트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823200" y="4284266"/>
            <a:ext cx="3670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7962900" y="3747095"/>
            <a:ext cx="3661124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/api 체인을 1순위로 지정, 401은 JSON으로 응답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98500" y="4740176"/>
            <a:ext cx="34544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38200" y="4423966"/>
            <a:ext cx="2313845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접속이 인증 단계에서 실패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52900" y="4740176"/>
            <a:ext cx="3670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4292600" y="4423966"/>
            <a:ext cx="3215402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MySQL과 MariaDB가 3306 포트를 같이 씀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823200" y="4740176"/>
            <a:ext cx="3670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7962900" y="4423966"/>
            <a:ext cx="364201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접속 전 버전 확인, MariaDB는 3307 포트로 통일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98500" y="5196086"/>
            <a:ext cx="34544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838200" y="4879876"/>
            <a:ext cx="2190607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재시작하면 시연 데이터 삭제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152900" y="5196086"/>
            <a:ext cx="3670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4349750" y="4879876"/>
            <a:ext cx="184534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2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ddl-auto: create</a:t>
            </a: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설정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7823200" y="5196086"/>
            <a:ext cx="3670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7962900" y="4879876"/>
            <a:ext cx="2053812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PC는 </a:t>
            </a:r>
            <a:r>
              <a:rPr lang="en-US" sz="1020" dirty="0">
                <a:solidFill>
                  <a:srgbClr val="191F28"/>
                </a:solidFill>
                <a:highlight>
                  <a:srgbClr val="F2F4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변경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98500" y="5651996"/>
            <a:ext cx="34544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838200" y="5335786"/>
            <a:ext cx="216215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첫 상품 등록 때 중복 키 오류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152900" y="5651996"/>
            <a:ext cx="3670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4292600" y="5335786"/>
            <a:ext cx="258910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데이터 SQL에 id를 직접 넣음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7823200" y="5651996"/>
            <a:ext cx="36703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7962900" y="5335786"/>
            <a:ext cx="1811338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데이터에서 id 제거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60688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및 문서화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509044"/>
            <a:ext cx="1905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98500" y="2515394"/>
            <a:ext cx="1905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38200" y="2629694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603500" y="2509044"/>
            <a:ext cx="7239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603500" y="2515394"/>
            <a:ext cx="7239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2743200" y="2629694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내용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842500" y="2509044"/>
            <a:ext cx="1651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9842500" y="2515394"/>
            <a:ext cx="1651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10471150" y="2629694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8500" y="3383359"/>
            <a:ext cx="1905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838200" y="3048794"/>
            <a:ext cx="115069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명세 검증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603500" y="3383359"/>
            <a:ext cx="723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2743200" y="3048794"/>
            <a:ext cx="539334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코드, 응답 형식, 필드 타입, 인증 동작 확인 (목 서버 · 실서버)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9842500" y="3383359"/>
            <a:ext cx="1651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10174611" y="3048794"/>
            <a:ext cx="9866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13 통과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98500" y="3857625"/>
            <a:ext cx="1905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38200" y="3523059"/>
            <a:ext cx="9760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인수 테스트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603500" y="3857625"/>
            <a:ext cx="723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2743200" y="3523059"/>
            <a:ext cx="396549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MariaDB로 잔액 · 상태 변경, 제약조건 검증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9842500" y="3857625"/>
            <a:ext cx="1651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10208816" y="3523059"/>
            <a:ext cx="91827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122개 통과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8500" y="4331891"/>
            <a:ext cx="1905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838200" y="3997325"/>
            <a:ext cx="8079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문서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2603500" y="4331891"/>
            <a:ext cx="723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2743200" y="3997325"/>
            <a:ext cx="449356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도메인, Entity, REST API, 화면, React 컴포넌트 설계서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9842500" y="4331891"/>
            <a:ext cx="1651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10300692" y="3997325"/>
            <a:ext cx="73461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5종 작성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98500" y="4806156"/>
            <a:ext cx="1905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838200" y="4471591"/>
            <a:ext cx="81706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README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2603500" y="4806156"/>
            <a:ext cx="7239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2743200" y="4471591"/>
            <a:ext cx="246564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방법, DB 설정, 시연 계정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9842500" y="4806156"/>
            <a:ext cx="1651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10263981" y="4471591"/>
            <a:ext cx="8079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 완료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698500" y="5085556"/>
            <a:ext cx="9234265" cy="234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문서는 API 명세(SPEC.md)와 실제 코드를 기준으로 작성하고, 명세가 바뀔 때마다 같이 수정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17027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시나리오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064345"/>
            <a:ext cx="5715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98500" y="2070695"/>
            <a:ext cx="5715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87400" y="218499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270000" y="2064345"/>
            <a:ext cx="12065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1270000" y="2070695"/>
            <a:ext cx="12065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409700" y="218499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76500" y="2064345"/>
            <a:ext cx="6350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476500" y="2070695"/>
            <a:ext cx="6350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616200" y="2184995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동작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826500" y="2064345"/>
            <a:ext cx="266700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8826500" y="2070695"/>
            <a:ext cx="266700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8966200" y="2184995"/>
            <a:ext cx="8724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결과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8500" y="2938661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887512" y="2604095"/>
            <a:ext cx="193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270000" y="2938661"/>
            <a:ext cx="1206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1409700" y="2604095"/>
            <a:ext cx="5969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476500" y="2938661"/>
            <a:ext cx="635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2616200" y="2604095"/>
            <a:ext cx="167454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등록 (사진 3장)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8826500" y="2938661"/>
            <a:ext cx="2667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8966200" y="2604095"/>
            <a:ext cx="116092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검수대기 상태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98500" y="3412927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887512" y="3078361"/>
            <a:ext cx="193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270000" y="3412927"/>
            <a:ext cx="1206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 txBox="1"/>
          <p:nvPr/>
        </p:nvSpPr>
        <p:spPr>
          <a:xfrm>
            <a:off x="1409700" y="3078361"/>
            <a:ext cx="5969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2476500" y="3412927"/>
            <a:ext cx="635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2616200" y="3078361"/>
            <a:ext cx="1212263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검수 승인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826500" y="3412927"/>
            <a:ext cx="2667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 txBox="1"/>
          <p:nvPr/>
        </p:nvSpPr>
        <p:spPr>
          <a:xfrm>
            <a:off x="8966200" y="3078361"/>
            <a:ext cx="9760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목록에 노출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98500" y="3887192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887512" y="3552627"/>
            <a:ext cx="193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270000" y="3887192"/>
            <a:ext cx="1206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1409700" y="3552627"/>
            <a:ext cx="5969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2476500" y="3887192"/>
            <a:ext cx="635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2616200" y="3552627"/>
            <a:ext cx="215738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 → 상세 → 찜 → 구매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8826500" y="3887192"/>
            <a:ext cx="2667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8966200" y="3552627"/>
            <a:ext cx="13971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 잔액 차감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98500" y="4361458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887512" y="4026892"/>
            <a:ext cx="193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1270000" y="4361458"/>
            <a:ext cx="1206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1409700" y="4026892"/>
            <a:ext cx="5969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2476500" y="4361458"/>
            <a:ext cx="635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2616200" y="4026892"/>
            <a:ext cx="8079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송장 입력</a:t>
            </a:r>
            <a:endParaRPr lang="en-US" sz="1300" dirty="0"/>
          </a:p>
        </p:txBody>
      </p:sp>
      <p:sp>
        <p:nvSpPr>
          <p:cNvPr id="47" name="Shape 44"/>
          <p:cNvSpPr/>
          <p:nvPr/>
        </p:nvSpPr>
        <p:spPr>
          <a:xfrm>
            <a:off x="8826500" y="4361458"/>
            <a:ext cx="2667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8966200" y="4026892"/>
            <a:ext cx="5969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배송중</a:t>
            </a:r>
            <a:endParaRPr lang="en-US" sz="1300" dirty="0"/>
          </a:p>
        </p:txBody>
      </p:sp>
      <p:sp>
        <p:nvSpPr>
          <p:cNvPr id="49" name="Shape 46"/>
          <p:cNvSpPr/>
          <p:nvPr/>
        </p:nvSpPr>
        <p:spPr>
          <a:xfrm>
            <a:off x="698500" y="4835723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887512" y="4501158"/>
            <a:ext cx="193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1270000" y="4835723"/>
            <a:ext cx="1206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1409700" y="4501158"/>
            <a:ext cx="5969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2476500" y="4835723"/>
            <a:ext cx="635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2616200" y="4501158"/>
            <a:ext cx="217782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신고 (증빙 사진 첨부)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8826500" y="4835723"/>
            <a:ext cx="2667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3"/>
          <p:cNvSpPr txBox="1"/>
          <p:nvPr/>
        </p:nvSpPr>
        <p:spPr>
          <a:xfrm>
            <a:off x="8966200" y="4501158"/>
            <a:ext cx="8079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54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상태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698500" y="5309989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 txBox="1"/>
          <p:nvPr/>
        </p:nvSpPr>
        <p:spPr>
          <a:xfrm>
            <a:off x="887512" y="4975423"/>
            <a:ext cx="193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1270000" y="5309989"/>
            <a:ext cx="1206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1409700" y="4975423"/>
            <a:ext cx="5969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2476500" y="5309989"/>
            <a:ext cx="635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2616200" y="4975423"/>
            <a:ext cx="186978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증빙 확인 후 강제 환불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8826500" y="5309989"/>
            <a:ext cx="2667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8966200" y="4975423"/>
            <a:ext cx="24758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 잔액 복구, 다시 판매중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698500" y="5784255"/>
            <a:ext cx="571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887512" y="5449689"/>
            <a:ext cx="19347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300" dirty="0"/>
          </a:p>
        </p:txBody>
      </p:sp>
      <p:sp>
        <p:nvSpPr>
          <p:cNvPr id="67" name="Shape 64"/>
          <p:cNvSpPr/>
          <p:nvPr/>
        </p:nvSpPr>
        <p:spPr>
          <a:xfrm>
            <a:off x="1270000" y="5784255"/>
            <a:ext cx="12065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5"/>
          <p:cNvSpPr txBox="1"/>
          <p:nvPr/>
        </p:nvSpPr>
        <p:spPr>
          <a:xfrm>
            <a:off x="1409700" y="5449689"/>
            <a:ext cx="5969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</a:t>
            </a:r>
            <a:endParaRPr lang="en-US" sz="1300" dirty="0"/>
          </a:p>
        </p:txBody>
      </p:sp>
      <p:sp>
        <p:nvSpPr>
          <p:cNvPr id="69" name="Shape 66"/>
          <p:cNvSpPr/>
          <p:nvPr/>
        </p:nvSpPr>
        <p:spPr>
          <a:xfrm>
            <a:off x="2476500" y="5784255"/>
            <a:ext cx="6350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 txBox="1"/>
          <p:nvPr/>
        </p:nvSpPr>
        <p:spPr>
          <a:xfrm>
            <a:off x="2616200" y="5449689"/>
            <a:ext cx="1582087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거래 구매확정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8826500" y="5784255"/>
            <a:ext cx="266700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8966200" y="5449689"/>
            <a:ext cx="18183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A1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이때 판매자 잔액 증가</a:t>
            </a:r>
            <a:endParaRPr lang="en-US" sz="1300" dirty="0"/>
          </a:p>
        </p:txBody>
      </p:sp>
      <p:sp>
        <p:nvSpPr>
          <p:cNvPr id="73" name="Text 70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60688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관전 포인트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8500" y="2457450"/>
            <a:ext cx="3462834" cy="2108200"/>
          </a:xfrm>
          <a:prstGeom prst="roundRect">
            <a:avLst>
              <a:gd name="adj" fmla="val 4217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 txBox="1"/>
          <p:nvPr/>
        </p:nvSpPr>
        <p:spPr>
          <a:xfrm>
            <a:off x="939800" y="2692400"/>
            <a:ext cx="6350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판매자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65200" y="3041650"/>
            <a:ext cx="9760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등록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5200" y="3403600"/>
            <a:ext cx="13971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결과 확인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65200" y="3765550"/>
            <a:ext cx="97601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송장 입력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5200" y="4127500"/>
            <a:ext cx="17414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구매확정 시 잔액 +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64534" y="2457450"/>
            <a:ext cx="3462834" cy="2108200"/>
          </a:xfrm>
          <a:prstGeom prst="roundRect">
            <a:avLst>
              <a:gd name="adj" fmla="val 4217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4605834" y="2692400"/>
            <a:ext cx="6350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구매자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631234" y="3041650"/>
            <a:ext cx="200325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통과 상품만 탐색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631234" y="3403600"/>
            <a:ext cx="150518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구매하면 잔액 −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631234" y="3765550"/>
            <a:ext cx="16334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물건 확인 후 확정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631234" y="4127500"/>
            <a:ext cx="163342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시 분쟁 신고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30567" y="2457450"/>
            <a:ext cx="3462834" cy="2108200"/>
          </a:xfrm>
          <a:prstGeom prst="roundRect">
            <a:avLst>
              <a:gd name="adj" fmla="val 4217"/>
            </a:avLst>
          </a:prstGeom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8271867" y="2692400"/>
            <a:ext cx="63500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297267" y="3041650"/>
            <a:ext cx="14999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승인 / 반려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97267" y="3403600"/>
            <a:ext cx="13971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분쟁 증빙 확인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97267" y="3765550"/>
            <a:ext cx="149996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강제 환불 / 확정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8297267" y="4127500"/>
            <a:ext cx="146940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</a:t>
            </a:r>
            <a:r>
              <a:rPr lang="en-US" sz="13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Thymeleaf 화면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98500" y="4794250"/>
            <a:ext cx="10795000" cy="596900"/>
          </a:xfrm>
          <a:prstGeom prst="roundRect">
            <a:avLst>
              <a:gd name="adj" fmla="val 14894"/>
            </a:avLst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927100" y="4991100"/>
            <a:ext cx="7932658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잔액이 움직이는 순간을 봐 주세요.</a:t>
            </a:r>
            <a:r>
              <a:rPr lang="en-US" sz="140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구매 시 구매자 − · 확정 시 판매자 + · 환불 시 원래대로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182356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결과와 한계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2429768"/>
            <a:ext cx="8622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결과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8500" y="2798068"/>
            <a:ext cx="147191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698500" y="2804418"/>
            <a:ext cx="147191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838200" y="2918718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항목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70410" y="2798068"/>
            <a:ext cx="3747790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2170410" y="2804418"/>
            <a:ext cx="3747790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310110" y="2918718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98500" y="3644801"/>
            <a:ext cx="147191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38200" y="3337818"/>
            <a:ext cx="726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170410" y="3644801"/>
            <a:ext cx="374779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2310110" y="3337818"/>
            <a:ext cx="274445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검수 · 에스크로 · 분쟁 · 인가 4종 구현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98500" y="4091484"/>
            <a:ext cx="147191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838200" y="3784501"/>
            <a:ext cx="101790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자동 검사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170410" y="4091484"/>
            <a:ext cx="374779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2310110" y="3784501"/>
            <a:ext cx="8809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13 통과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98500" y="4538166"/>
            <a:ext cx="147191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38200" y="4231184"/>
            <a:ext cx="10723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목록 쿼리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2170410" y="4538166"/>
            <a:ext cx="374779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2310110" y="4231184"/>
            <a:ext cx="86459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32건 → 4건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98500" y="4984849"/>
            <a:ext cx="147191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 txBox="1"/>
          <p:nvPr/>
        </p:nvSpPr>
        <p:spPr>
          <a:xfrm>
            <a:off x="838200" y="4677866"/>
            <a:ext cx="726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구매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2170410" y="4984849"/>
            <a:ext cx="3747790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2310110" y="4677866"/>
            <a:ext cx="32141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UPDATE로 차단, 단위 테스트로 검증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6273800" y="2429768"/>
            <a:ext cx="150463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한계와 다음 단계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73800" y="2798068"/>
            <a:ext cx="2609949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7"/>
          <p:cNvSpPr/>
          <p:nvPr/>
        </p:nvSpPr>
        <p:spPr>
          <a:xfrm>
            <a:off x="6273800" y="2804418"/>
            <a:ext cx="2609949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6413500" y="2918718"/>
            <a:ext cx="3937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883749" y="2798068"/>
            <a:ext cx="2609751" cy="406400"/>
          </a:xfrm>
          <a:prstGeom prst="rect">
            <a:avLst/>
          </a:prstGeom>
          <a:solidFill>
            <a:srgbClr val="F2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0"/>
          <p:cNvSpPr/>
          <p:nvPr/>
        </p:nvSpPr>
        <p:spPr>
          <a:xfrm>
            <a:off x="8883749" y="2804418"/>
            <a:ext cx="2609751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 txBox="1"/>
          <p:nvPr/>
        </p:nvSpPr>
        <p:spPr>
          <a:xfrm>
            <a:off x="9023449" y="2918718"/>
            <a:ext cx="7263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개선 방향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273800" y="3644801"/>
            <a:ext cx="260994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 txBox="1"/>
          <p:nvPr/>
        </p:nvSpPr>
        <p:spPr>
          <a:xfrm>
            <a:off x="6413500" y="3337818"/>
            <a:ext cx="13995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구매확정 없음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8883749" y="3644801"/>
            <a:ext cx="2609751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 txBox="1"/>
          <p:nvPr/>
        </p:nvSpPr>
        <p:spPr>
          <a:xfrm>
            <a:off x="9023449" y="3337818"/>
            <a:ext cx="23082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배송 후 N일 자동 확정 스케줄러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273800" y="4091484"/>
            <a:ext cx="260994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6413500" y="3784501"/>
            <a:ext cx="230862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재발급 없음, localStorage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883749" y="4091484"/>
            <a:ext cx="2609751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9023449" y="3784501"/>
            <a:ext cx="214071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Refresh 토큰 + HttpOnly 쿠키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6273800" y="4538166"/>
            <a:ext cx="260994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6413500" y="4231184"/>
            <a:ext cx="20992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구매는 순차 테스트까지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883749" y="4538166"/>
            <a:ext cx="2609751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 txBox="1"/>
          <p:nvPr/>
        </p:nvSpPr>
        <p:spPr>
          <a:xfrm>
            <a:off x="9023449" y="4231184"/>
            <a:ext cx="209926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멀티스레드 동시 요청 테스트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6273800" y="4984849"/>
            <a:ext cx="260994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 txBox="1"/>
          <p:nvPr/>
        </p:nvSpPr>
        <p:spPr>
          <a:xfrm>
            <a:off x="6413500" y="4677866"/>
            <a:ext cx="107235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가상 잔액 결제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8883749" y="4984849"/>
            <a:ext cx="2609751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 txBox="1"/>
          <p:nvPr/>
        </p:nvSpPr>
        <p:spPr>
          <a:xfrm>
            <a:off x="9023449" y="4677866"/>
            <a:ext cx="98156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PG 연동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6273800" y="5431532"/>
            <a:ext cx="2609949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6413500" y="5124549"/>
            <a:ext cx="144495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반려 사유 자유 입력</a:t>
            </a:r>
            <a:endParaRPr lang="en-US" sz="1150" dirty="0"/>
          </a:p>
        </p:txBody>
      </p:sp>
      <p:sp>
        <p:nvSpPr>
          <p:cNvPr id="53" name="Shape 50"/>
          <p:cNvSpPr/>
          <p:nvPr/>
        </p:nvSpPr>
        <p:spPr>
          <a:xfrm>
            <a:off x="8883749" y="5431532"/>
            <a:ext cx="2609751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9023449" y="5124549"/>
            <a:ext cx="12813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사유 코드화, 통계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25339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소감 (1/7)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3308350"/>
            <a:ext cx="53627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BE-A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3651250"/>
            <a:ext cx="2734453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ko-KR" altLang="en-US" sz="3600" b="1" kern="0" spc="-108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윤동호</a:t>
            </a:r>
            <a:r>
              <a:rPr lang="en-US" sz="3600" b="1" kern="0" spc="-108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(팀장)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98500" y="4318000"/>
            <a:ext cx="154874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리포 · 계약 · 분쟁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34955" y="2819400"/>
            <a:ext cx="5658545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834955" y="35591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834955" y="30892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92155" y="3054350"/>
            <a:ext cx="219194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우선 (SPEC)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34955" y="42957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834955" y="38258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92155" y="3790950"/>
            <a:ext cx="265588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기계로 검증하는 규칙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34955" y="50323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834955" y="45624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92155" y="4527550"/>
            <a:ext cx="1819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증빙 파일 권한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25339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소감 (2/7)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3308350"/>
            <a:ext cx="53627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BE-B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3651250"/>
            <a:ext cx="99345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ko-KR" altLang="en-US" sz="3600" b="1" kern="0" spc="-108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</a:t>
            </a:r>
            <a:r>
              <a:rPr lang="en-US" sz="3600" b="1" kern="0" spc="-108" dirty="0" err="1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세진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98500" y="4318000"/>
            <a:ext cx="206903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· Security · 관리자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34955" y="2819400"/>
            <a:ext cx="5658545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834955" y="35591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834955" y="30892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92155" y="3054350"/>
            <a:ext cx="233907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Security 필터 체인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34955" y="42957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834955" y="38258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92155" y="3790950"/>
            <a:ext cx="212415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JWT 무상태 인증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34955" y="50323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834955" y="45624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92155" y="4527550"/>
            <a:ext cx="11885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경계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25339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소감 (3/7)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3308350"/>
            <a:ext cx="53627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BE-C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3651250"/>
            <a:ext cx="130383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ko-KR" altLang="en-US" sz="3600" b="1" kern="0" spc="-108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원종현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98500" y="4318000"/>
            <a:ext cx="154874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· 검색 · 성능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34955" y="2851150"/>
            <a:ext cx="5658545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834955" y="352742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834955" y="30892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92155" y="3048000"/>
            <a:ext cx="22033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N+1 · batch fetch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34955" y="426402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834955" y="379412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92155" y="3759200"/>
            <a:ext cx="20754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multipart 업로드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34955" y="500062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834955" y="453072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92155" y="4495800"/>
            <a:ext cx="245041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기반 병렬 개발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25339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소감 (4/7)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3308350"/>
            <a:ext cx="53627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BE-D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3651250"/>
            <a:ext cx="130383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ko-KR" altLang="en-US" sz="3600" b="1" kern="0" spc="-108" dirty="0" err="1">
                <a:solidFill>
                  <a:srgbClr val="191F28"/>
                </a:solidFill>
                <a:latin typeface="Noto Sans KR" pitchFamily="34" charset="0"/>
              </a:rPr>
              <a:t>박한나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98500" y="4318000"/>
            <a:ext cx="1305497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상태 머신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34955" y="2819400"/>
            <a:ext cx="5658545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834955" y="35591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834955" y="30892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92155" y="3054350"/>
            <a:ext cx="1819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머신 설계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34955" y="42957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834955" y="38258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92155" y="3790950"/>
            <a:ext cx="202492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트랜잭션 원자성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34955" y="50323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834955" y="45624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92155" y="4527550"/>
            <a:ext cx="174610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테스트로 증명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25339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소감 (5/7)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3308350"/>
            <a:ext cx="516434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FE-A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3651250"/>
            <a:ext cx="130383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ko-KR" altLang="en-US" sz="3600" b="1" kern="0" spc="-108" dirty="0" err="1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채수림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98500" y="4318000"/>
            <a:ext cx="188079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구조 · 인증 화면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34955" y="2819400"/>
            <a:ext cx="5658545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834955" y="35591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834955" y="30892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92155" y="3054350"/>
            <a:ext cx="217160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 서버 병렬 개발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34955" y="42957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834955" y="38258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92155" y="3790950"/>
            <a:ext cx="241741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인터셉터 · Zustand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34955" y="50323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834955" y="45624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92155" y="4527550"/>
            <a:ext cx="18986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반응형 3뷰포트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25339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소감 (6/7)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3308350"/>
            <a:ext cx="516434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FE-B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3651250"/>
            <a:ext cx="130383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ko-KR" altLang="en-US" sz="3600" b="1" kern="0" spc="-108" dirty="0" err="1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정성재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98500" y="4318000"/>
            <a:ext cx="20023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목록 · 상세 · 등록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34955" y="2819400"/>
            <a:ext cx="5658545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834955" y="35591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834955" y="30892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92155" y="3054350"/>
            <a:ext cx="16932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 화면 3종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34955" y="42957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834955" y="38258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92155" y="3790950"/>
            <a:ext cx="29347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 미리보기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34955" y="50323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834955" y="45624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92155" y="4527550"/>
            <a:ext cx="169321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상태 4종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500" y="1009650"/>
            <a:ext cx="10795000" cy="0"/>
          </a:xfrm>
          <a:prstGeom prst="line">
            <a:avLst/>
          </a:prstGeom>
          <a:noFill/>
          <a:ln w="1270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698500" y="469900"/>
            <a:ext cx="225339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500" b="1" kern="0" spc="-63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소감 (7/7)</a:t>
            </a:r>
            <a:endParaRPr lang="en-US" sz="2500" dirty="0"/>
          </a:p>
        </p:txBody>
      </p:sp>
      <p:pic>
        <p:nvPicPr>
          <p:cNvPr id="4" name="Image 0" descr="/tmp/claude-0/-home-claude/5e2033b7-23f8-5e38-a464-76ca5369ce45/scratchpad/pptx/shot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0900" y="508000"/>
            <a:ext cx="482600" cy="279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8500" y="3308350"/>
            <a:ext cx="516434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FE-C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98500" y="3651250"/>
            <a:ext cx="130383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ko-KR" altLang="en-US" sz="3600" b="1" kern="0" spc="-108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이승혁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98500" y="4318000"/>
            <a:ext cx="2024586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dirty="0">
                <a:solidFill>
                  <a:srgbClr val="4E59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마이페이지 · 거래 상세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34955" y="2819400"/>
            <a:ext cx="5658545" cy="0"/>
          </a:xfrm>
          <a:prstGeom prst="line">
            <a:avLst/>
          </a:prstGeom>
          <a:noFill/>
          <a:ln w="12700">
            <a:solidFill>
              <a:srgbClr val="191F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834955" y="35591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834955" y="30892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292155" y="3054350"/>
            <a:ext cx="181378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상태별 액션 UI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834955" y="42957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834955" y="38258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92155" y="3790950"/>
            <a:ext cx="1819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상세 화면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834955" y="5032375"/>
            <a:ext cx="5658545" cy="0"/>
          </a:xfrm>
          <a:prstGeom prst="line">
            <a:avLst/>
          </a:prstGeom>
          <a:noFill/>
          <a:ln w="6350">
            <a:solidFill>
              <a:srgbClr val="E5E8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5834955" y="4562475"/>
            <a:ext cx="19546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400" b="1" kern="0" spc="-40" dirty="0">
                <a:solidFill>
                  <a:srgbClr val="2F6B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292155" y="4527550"/>
            <a:ext cx="118859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000" b="1" kern="0" spc="-40" dirty="0">
                <a:solidFill>
                  <a:srgbClr val="191F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협상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1352213" y="6483350"/>
            <a:ext cx="242888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8B95A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325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81427" y="1723430"/>
            <a:ext cx="1428948" cy="8382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/tmp/claude-0/-home-claude/5e2033b7-23f8-5e38-a464-76ca5369ce45/scratchpad/pptx/shot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927" y="1837730"/>
            <a:ext cx="1047948" cy="609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047639" y="2904530"/>
            <a:ext cx="4096623" cy="876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6000" b="1" kern="0" spc="-24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감사합니다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746552" y="4009430"/>
            <a:ext cx="698798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800" dirty="0">
                <a:solidFill>
                  <a:srgbClr val="B8C3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784475" y="4676180"/>
            <a:ext cx="6661051" cy="435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4000"/>
              </a:lnSpc>
              <a:buNone/>
            </a:pPr>
            <a:r>
              <a:rPr lang="en-US" sz="11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https://github.com/SkshieldusRookies06/UDT-Used_Device_Trade_BackEnd</a:t>
            </a:r>
            <a:endParaRPr lang="en-US" sz="1100" dirty="0"/>
          </a:p>
          <a:p>
            <a:pPr marL="0" indent="0" algn="ctr">
              <a:lnSpc>
                <a:spcPct val="124000"/>
              </a:lnSpc>
              <a:buNone/>
            </a:pPr>
            <a:r>
              <a:rPr lang="en-US" sz="1100" dirty="0">
                <a:solidFill>
                  <a:srgbClr val="8FA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https://github.com/SkshieldusRookies06/UDT-Used_Device_Trade_Frontend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3442</Words>
  <Application>Microsoft Office PowerPoint</Application>
  <PresentationFormat>와이드스크린</PresentationFormat>
  <Paragraphs>691</Paragraphs>
  <Slides>35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9" baseType="lpstr">
      <vt:lpstr>Noto Sans KR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UDT 최종 발표</dc:title>
  <dc:subject>PptxGenJS Presentation</dc:subject>
  <dc:creator>PptxGenJS</dc:creator>
  <cp:lastModifiedBy>윤동호</cp:lastModifiedBy>
  <cp:revision>11</cp:revision>
  <dcterms:created xsi:type="dcterms:W3CDTF">2026-10-01T07:45:03Z</dcterms:created>
  <dcterms:modified xsi:type="dcterms:W3CDTF">2026-10-02T00:24:28Z</dcterms:modified>
</cp:coreProperties>
</file>